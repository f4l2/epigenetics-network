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 name="Shape 56"/>
        <p:cNvGrpSpPr/>
        <p:nvPr/>
      </p:nvGrpSpPr>
      <p:grpSpPr>
        <a:xfrm>
          <a:off x="0" y="0"/>
          <a:ext cx="0" cy="0"/>
          <a:chOff x="0" y="0"/>
          <a:chExt cx="0" cy="0"/>
        </a:xfrm>
      </p:grpSpPr>
      <p:sp>
        <p:nvSpPr>
          <p:cNvPr id="57" name="Google Shape;57;g49bb2f9b9555d1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49bb2f9b9555d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 name="Shape 62"/>
        <p:cNvGrpSpPr/>
        <p:nvPr/>
      </p:nvGrpSpPr>
      <p:grpSpPr>
        <a:xfrm>
          <a:off x="0" y="0"/>
          <a:ext cx="0" cy="0"/>
          <a:chOff x="0" y="0"/>
          <a:chExt cx="0" cy="0"/>
        </a:xfrm>
      </p:grpSpPr>
      <p:sp>
        <p:nvSpPr>
          <p:cNvPr id="63" name="Google Shape;63;g755f9e6c8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755f9e6c8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9" name="Shape 69"/>
        <p:cNvGrpSpPr/>
        <p:nvPr/>
      </p:nvGrpSpPr>
      <p:grpSpPr>
        <a:xfrm>
          <a:off x="0" y="0"/>
          <a:ext cx="0" cy="0"/>
          <a:chOff x="0" y="0"/>
          <a:chExt cx="0" cy="0"/>
        </a:xfrm>
      </p:grpSpPr>
      <p:sp>
        <p:nvSpPr>
          <p:cNvPr id="70" name="Google Shape;70;g6b183d108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6b183d108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6" name="Shape 76"/>
        <p:cNvGrpSpPr/>
        <p:nvPr/>
      </p:nvGrpSpPr>
      <p:grpSpPr>
        <a:xfrm>
          <a:off x="0" y="0"/>
          <a:ext cx="0" cy="0"/>
          <a:chOff x="0" y="0"/>
          <a:chExt cx="0" cy="0"/>
        </a:xfrm>
      </p:grpSpPr>
      <p:sp>
        <p:nvSpPr>
          <p:cNvPr id="77" name="Google Shape;77;g6b183d108a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6b183d108a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6" name="Shape 86"/>
        <p:cNvGrpSpPr/>
        <p:nvPr/>
      </p:nvGrpSpPr>
      <p:grpSpPr>
        <a:xfrm>
          <a:off x="0" y="0"/>
          <a:ext cx="0" cy="0"/>
          <a:chOff x="0" y="0"/>
          <a:chExt cx="0" cy="0"/>
        </a:xfrm>
      </p:grpSpPr>
      <p:sp>
        <p:nvSpPr>
          <p:cNvPr id="87" name="Google Shape;87;g6b183d108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6b183d108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8" name="Shape 98"/>
        <p:cNvGrpSpPr/>
        <p:nvPr/>
      </p:nvGrpSpPr>
      <p:grpSpPr>
        <a:xfrm>
          <a:off x="0" y="0"/>
          <a:ext cx="0" cy="0"/>
          <a:chOff x="0" y="0"/>
          <a:chExt cx="0" cy="0"/>
        </a:xfrm>
      </p:grpSpPr>
      <p:sp>
        <p:nvSpPr>
          <p:cNvPr id="99" name="Google Shape;99;g6b183d108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6b183d108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5" name="Shape 105"/>
        <p:cNvGrpSpPr/>
        <p:nvPr/>
      </p:nvGrpSpPr>
      <p:grpSpPr>
        <a:xfrm>
          <a:off x="0" y="0"/>
          <a:ext cx="0" cy="0"/>
          <a:chOff x="0" y="0"/>
          <a:chExt cx="0" cy="0"/>
        </a:xfrm>
      </p:grpSpPr>
      <p:sp>
        <p:nvSpPr>
          <p:cNvPr id="106" name="Google Shape;106;g6b183d108a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6b183d108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2" name="Shape 112"/>
        <p:cNvGrpSpPr/>
        <p:nvPr/>
      </p:nvGrpSpPr>
      <p:grpSpPr>
        <a:xfrm>
          <a:off x="0" y="0"/>
          <a:ext cx="0" cy="0"/>
          <a:chOff x="0" y="0"/>
          <a:chExt cx="0" cy="0"/>
        </a:xfrm>
      </p:grpSpPr>
      <p:sp>
        <p:nvSpPr>
          <p:cNvPr id="113" name="Google Shape;113;g6b183d108a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6b183d108a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1" name="Shape 121"/>
        <p:cNvGrpSpPr/>
        <p:nvPr/>
      </p:nvGrpSpPr>
      <p:grpSpPr>
        <a:xfrm>
          <a:off x="0" y="0"/>
          <a:ext cx="0" cy="0"/>
          <a:chOff x="0" y="0"/>
          <a:chExt cx="0" cy="0"/>
        </a:xfrm>
      </p:grpSpPr>
      <p:sp>
        <p:nvSpPr>
          <p:cNvPr id="122" name="Google Shape;122;g6b183d108a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6b183d108a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8" name="Shape 128"/>
        <p:cNvGrpSpPr/>
        <p:nvPr/>
      </p:nvGrpSpPr>
      <p:grpSpPr>
        <a:xfrm>
          <a:off x="0" y="0"/>
          <a:ext cx="0" cy="0"/>
          <a:chOff x="0" y="0"/>
          <a:chExt cx="0" cy="0"/>
        </a:xfrm>
      </p:grpSpPr>
      <p:sp>
        <p:nvSpPr>
          <p:cNvPr id="129" name="Google Shape;129;g6b183d108a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6b183d108a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6" name="Shape 136"/>
        <p:cNvGrpSpPr/>
        <p:nvPr/>
      </p:nvGrpSpPr>
      <p:grpSpPr>
        <a:xfrm>
          <a:off x="0" y="0"/>
          <a:ext cx="0" cy="0"/>
          <a:chOff x="0" y="0"/>
          <a:chExt cx="0" cy="0"/>
        </a:xfrm>
      </p:grpSpPr>
      <p:sp>
        <p:nvSpPr>
          <p:cNvPr id="137" name="Google Shape;137;g6b183d108a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6b183d108a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4" name="Shape 144"/>
        <p:cNvGrpSpPr/>
        <p:nvPr/>
      </p:nvGrpSpPr>
      <p:grpSpPr>
        <a:xfrm>
          <a:off x="0" y="0"/>
          <a:ext cx="0" cy="0"/>
          <a:chOff x="0" y="0"/>
          <a:chExt cx="0" cy="0"/>
        </a:xfrm>
      </p:grpSpPr>
      <p:sp>
        <p:nvSpPr>
          <p:cNvPr id="145" name="Google Shape;145;g755232ae3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755232ae3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0" name="Shape 150"/>
        <p:cNvGrpSpPr/>
        <p:nvPr/>
      </p:nvGrpSpPr>
      <p:grpSpPr>
        <a:xfrm>
          <a:off x="0" y="0"/>
          <a:ext cx="0" cy="0"/>
          <a:chOff x="0" y="0"/>
          <a:chExt cx="0" cy="0"/>
        </a:xfrm>
      </p:grpSpPr>
      <p:sp>
        <p:nvSpPr>
          <p:cNvPr id="151" name="Google Shape;151;g6b183d10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6b183d10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2" name="Shape 162"/>
        <p:cNvGrpSpPr/>
        <p:nvPr/>
      </p:nvGrpSpPr>
      <p:grpSpPr>
        <a:xfrm>
          <a:off x="0" y="0"/>
          <a:ext cx="0" cy="0"/>
          <a:chOff x="0" y="0"/>
          <a:chExt cx="0" cy="0"/>
        </a:xfrm>
      </p:grpSpPr>
      <p:sp>
        <p:nvSpPr>
          <p:cNvPr id="163" name="Google Shape;163;g6b183d108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6b183d108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0" name="Shape 170"/>
        <p:cNvGrpSpPr/>
        <p:nvPr/>
      </p:nvGrpSpPr>
      <p:grpSpPr>
        <a:xfrm>
          <a:off x="0" y="0"/>
          <a:ext cx="0" cy="0"/>
          <a:chOff x="0" y="0"/>
          <a:chExt cx="0" cy="0"/>
        </a:xfrm>
      </p:grpSpPr>
      <p:sp>
        <p:nvSpPr>
          <p:cNvPr id="171" name="Google Shape;171;g6b183d108a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6b183d108a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7" name="Shape 177"/>
        <p:cNvGrpSpPr/>
        <p:nvPr/>
      </p:nvGrpSpPr>
      <p:grpSpPr>
        <a:xfrm>
          <a:off x="0" y="0"/>
          <a:ext cx="0" cy="0"/>
          <a:chOff x="0" y="0"/>
          <a:chExt cx="0" cy="0"/>
        </a:xfrm>
      </p:grpSpPr>
      <p:sp>
        <p:nvSpPr>
          <p:cNvPr id="178" name="Google Shape;178;g6b183d108a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6b183d108a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5" name="Shape 185"/>
        <p:cNvGrpSpPr/>
        <p:nvPr/>
      </p:nvGrpSpPr>
      <p:grpSpPr>
        <a:xfrm>
          <a:off x="0" y="0"/>
          <a:ext cx="0" cy="0"/>
          <a:chOff x="0" y="0"/>
          <a:chExt cx="0" cy="0"/>
        </a:xfrm>
      </p:grpSpPr>
      <p:sp>
        <p:nvSpPr>
          <p:cNvPr id="186" name="Google Shape;186;g6b183d108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6b183d108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5" name="Shape 195"/>
        <p:cNvGrpSpPr/>
        <p:nvPr/>
      </p:nvGrpSpPr>
      <p:grpSpPr>
        <a:xfrm>
          <a:off x="0" y="0"/>
          <a:ext cx="0" cy="0"/>
          <a:chOff x="0" y="0"/>
          <a:chExt cx="0" cy="0"/>
        </a:xfrm>
      </p:grpSpPr>
      <p:sp>
        <p:nvSpPr>
          <p:cNvPr id="196" name="Google Shape;196;g6b183d108a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6b183d108a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3" name="Shape 203"/>
        <p:cNvGrpSpPr/>
        <p:nvPr/>
      </p:nvGrpSpPr>
      <p:grpSpPr>
        <a:xfrm>
          <a:off x="0" y="0"/>
          <a:ext cx="0" cy="0"/>
          <a:chOff x="0" y="0"/>
          <a:chExt cx="0" cy="0"/>
        </a:xfrm>
      </p:grpSpPr>
      <p:sp>
        <p:nvSpPr>
          <p:cNvPr id="204" name="Google Shape;204;g6b183d108a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6b183d108a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g6b183d108a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6b183d108a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8" name="Shape 218"/>
        <p:cNvGrpSpPr/>
        <p:nvPr/>
      </p:nvGrpSpPr>
      <p:grpSpPr>
        <a:xfrm>
          <a:off x="0" y="0"/>
          <a:ext cx="0" cy="0"/>
          <a:chOff x="0" y="0"/>
          <a:chExt cx="0" cy="0"/>
        </a:xfrm>
      </p:grpSpPr>
      <p:sp>
        <p:nvSpPr>
          <p:cNvPr id="219" name="Google Shape;219;g6b183d108a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6b183d108a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5" name="Shape 225"/>
        <p:cNvGrpSpPr/>
        <p:nvPr/>
      </p:nvGrpSpPr>
      <p:grpSpPr>
        <a:xfrm>
          <a:off x="0" y="0"/>
          <a:ext cx="0" cy="0"/>
          <a:chOff x="0" y="0"/>
          <a:chExt cx="0" cy="0"/>
        </a:xfrm>
      </p:grpSpPr>
      <p:sp>
        <p:nvSpPr>
          <p:cNvPr id="226" name="Google Shape;226;g6b183d108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6b183d108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1" name="Shape 231"/>
        <p:cNvGrpSpPr/>
        <p:nvPr/>
      </p:nvGrpSpPr>
      <p:grpSpPr>
        <a:xfrm>
          <a:off x="0" y="0"/>
          <a:ext cx="0" cy="0"/>
          <a:chOff x="0" y="0"/>
          <a:chExt cx="0" cy="0"/>
        </a:xfrm>
      </p:grpSpPr>
      <p:sp>
        <p:nvSpPr>
          <p:cNvPr id="232" name="Google Shape;232;g755f9e6c8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755f9e6c8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7" name="Shape 237"/>
        <p:cNvGrpSpPr/>
        <p:nvPr/>
      </p:nvGrpSpPr>
      <p:grpSpPr>
        <a:xfrm>
          <a:off x="0" y="0"/>
          <a:ext cx="0" cy="0"/>
          <a:chOff x="0" y="0"/>
          <a:chExt cx="0" cy="0"/>
        </a:xfrm>
      </p:grpSpPr>
      <p:sp>
        <p:nvSpPr>
          <p:cNvPr id="238" name="Google Shape;238;g755f9e6c8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755f9e6c8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3" name="Shape 243"/>
        <p:cNvGrpSpPr/>
        <p:nvPr/>
      </p:nvGrpSpPr>
      <p:grpSpPr>
        <a:xfrm>
          <a:off x="0" y="0"/>
          <a:ext cx="0" cy="0"/>
          <a:chOff x="0" y="0"/>
          <a:chExt cx="0" cy="0"/>
        </a:xfrm>
      </p:grpSpPr>
      <p:sp>
        <p:nvSpPr>
          <p:cNvPr id="244" name="Google Shape;244;g755f9e6c8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755f9e6c8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3" name="Shape 253"/>
        <p:cNvGrpSpPr/>
        <p:nvPr/>
      </p:nvGrpSpPr>
      <p:grpSpPr>
        <a:xfrm>
          <a:off x="0" y="0"/>
          <a:ext cx="0" cy="0"/>
          <a:chOff x="0" y="0"/>
          <a:chExt cx="0" cy="0"/>
        </a:xfrm>
      </p:grpSpPr>
      <p:sp>
        <p:nvSpPr>
          <p:cNvPr id="254" name="Google Shape;254;g6b183d108a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6b183d108a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thebiogrid.org/" TargetMode="External"/><Relationship Id="rId4" Type="http://schemas.openxmlformats.org/officeDocument/2006/relationships/hyperlink" Target="http://interactome.baderlab.org/" TargetMode="External"/><Relationship Id="rId5" Type="http://schemas.openxmlformats.org/officeDocument/2006/relationships/hyperlink" Target="http://interactome.baderlab.or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fr"/>
              <a:t>RESYS, PROJET 7:</a:t>
            </a:r>
            <a:endParaRPr/>
          </a:p>
          <a:p>
            <a:pPr indent="0" lvl="0" marL="0" rtl="0" algn="ctr">
              <a:spcBef>
                <a:spcPts val="0"/>
              </a:spcBef>
              <a:spcAft>
                <a:spcPts val="0"/>
              </a:spcAft>
              <a:buNone/>
            </a:pPr>
            <a:r>
              <a:rPr lang="fr"/>
              <a:t>Réseau épigénétique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Alex YE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Objectif</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000000"/>
              </a:buClr>
              <a:buSzPts val="1800"/>
              <a:buChar char="❖"/>
            </a:pPr>
            <a:r>
              <a:rPr lang="fr">
                <a:solidFill>
                  <a:srgbClr val="000000"/>
                </a:solidFill>
              </a:rPr>
              <a:t>Construire un r</a:t>
            </a:r>
            <a:r>
              <a:rPr lang="fr">
                <a:solidFill>
                  <a:srgbClr val="000000"/>
                </a:solidFill>
              </a:rPr>
              <a:t>éseau de régulation </a:t>
            </a:r>
            <a:endParaRPr>
              <a:solidFill>
                <a:srgbClr val="000000"/>
              </a:solidFill>
            </a:endParaRPr>
          </a:p>
          <a:p>
            <a:pPr indent="-317500" lvl="1" marL="914400" rtl="0" algn="l">
              <a:spcBef>
                <a:spcPts val="0"/>
              </a:spcBef>
              <a:spcAft>
                <a:spcPts val="0"/>
              </a:spcAft>
              <a:buClr>
                <a:srgbClr val="000000"/>
              </a:buClr>
              <a:buSzPts val="1400"/>
              <a:buChar char="➢"/>
            </a:pPr>
            <a:r>
              <a:rPr lang="fr">
                <a:solidFill>
                  <a:srgbClr val="000000"/>
                </a:solidFill>
              </a:rPr>
              <a:t>Réseau de régulation  </a:t>
            </a:r>
            <a:endParaRPr>
              <a:solidFill>
                <a:srgbClr val="000000"/>
              </a:solidFill>
            </a:endParaRPr>
          </a:p>
          <a:p>
            <a:pPr indent="-317500" lvl="2" marL="1371600" rtl="0" algn="l">
              <a:spcBef>
                <a:spcPts val="0"/>
              </a:spcBef>
              <a:spcAft>
                <a:spcPts val="0"/>
              </a:spcAft>
              <a:buClr>
                <a:srgbClr val="000000"/>
              </a:buClr>
              <a:buSzPts val="1400"/>
              <a:buChar char="■"/>
            </a:pPr>
            <a:r>
              <a:rPr lang="fr">
                <a:solidFill>
                  <a:schemeClr val="dk1"/>
                </a:solidFill>
              </a:rPr>
              <a:t>Mark-Target </a:t>
            </a:r>
            <a:endParaRPr>
              <a:solidFill>
                <a:srgbClr val="000000"/>
              </a:solidFill>
            </a:endParaRPr>
          </a:p>
          <a:p>
            <a:pPr indent="-317500" lvl="2" marL="1371600" rtl="0" algn="l">
              <a:spcBef>
                <a:spcPts val="0"/>
              </a:spcBef>
              <a:spcAft>
                <a:spcPts val="0"/>
              </a:spcAft>
              <a:buClr>
                <a:srgbClr val="000000"/>
              </a:buClr>
              <a:buSzPts val="1400"/>
              <a:buChar char="■"/>
            </a:pPr>
            <a:r>
              <a:rPr lang="fr">
                <a:solidFill>
                  <a:schemeClr val="dk1"/>
                </a:solidFill>
              </a:rPr>
              <a:t>Causal/Orienté</a:t>
            </a:r>
            <a:endParaRPr>
              <a:solidFill>
                <a:srgbClr val="000000"/>
              </a:solidFill>
            </a:endParaRPr>
          </a:p>
          <a:p>
            <a:pPr indent="-317500" lvl="1" marL="914400" rtl="0" algn="l">
              <a:spcBef>
                <a:spcPts val="0"/>
              </a:spcBef>
              <a:spcAft>
                <a:spcPts val="0"/>
              </a:spcAft>
              <a:buClr>
                <a:srgbClr val="000000"/>
              </a:buClr>
              <a:buSzPts val="1400"/>
              <a:buChar char="➢"/>
            </a:pPr>
            <a:r>
              <a:rPr lang="fr">
                <a:solidFill>
                  <a:srgbClr val="000000"/>
                </a:solidFill>
              </a:rPr>
              <a:t>Méthodes d’inférence</a:t>
            </a:r>
            <a:endParaRPr>
              <a:solidFill>
                <a:srgbClr val="000000"/>
              </a:solidFill>
            </a:endParaRPr>
          </a:p>
          <a:p>
            <a:pPr indent="-307975" lvl="2" marL="1371600" rtl="0" algn="l">
              <a:spcBef>
                <a:spcPts val="0"/>
              </a:spcBef>
              <a:spcAft>
                <a:spcPts val="0"/>
              </a:spcAft>
              <a:buClr>
                <a:srgbClr val="000000"/>
              </a:buClr>
              <a:buSzPts val="1250"/>
              <a:buChar char="■"/>
            </a:pPr>
            <a:r>
              <a:rPr lang="fr" sz="1250">
                <a:solidFill>
                  <a:srgbClr val="000000"/>
                </a:solidFill>
              </a:rPr>
              <a:t>HC: Score-based</a:t>
            </a:r>
            <a:endParaRPr sz="1250">
              <a:solidFill>
                <a:srgbClr val="000000"/>
              </a:solidFill>
            </a:endParaRPr>
          </a:p>
          <a:p>
            <a:pPr indent="-307975" lvl="2" marL="1371600" rtl="0" algn="l">
              <a:spcBef>
                <a:spcPts val="0"/>
              </a:spcBef>
              <a:spcAft>
                <a:spcPts val="0"/>
              </a:spcAft>
              <a:buClr>
                <a:srgbClr val="000000"/>
              </a:buClr>
              <a:buSzPts val="1250"/>
              <a:buChar char="■"/>
            </a:pPr>
            <a:r>
              <a:rPr lang="fr" sz="1250">
                <a:solidFill>
                  <a:srgbClr val="000000"/>
                </a:solidFill>
              </a:rPr>
              <a:t>PC: Constraint-based</a:t>
            </a:r>
            <a:endParaRPr sz="1250">
              <a:solidFill>
                <a:srgbClr val="000000"/>
              </a:solidFill>
            </a:endParaRPr>
          </a:p>
          <a:p>
            <a:pPr indent="-307975" lvl="2" marL="1371600" rtl="0" algn="l">
              <a:spcBef>
                <a:spcPts val="0"/>
              </a:spcBef>
              <a:spcAft>
                <a:spcPts val="0"/>
              </a:spcAft>
              <a:buClr>
                <a:srgbClr val="000000"/>
              </a:buClr>
              <a:buSzPts val="1250"/>
              <a:buChar char="■"/>
            </a:pPr>
            <a:r>
              <a:rPr lang="fr" sz="1250">
                <a:solidFill>
                  <a:srgbClr val="000000"/>
                </a:solidFill>
              </a:rPr>
              <a:t>miic: Constraint-based, basé sur PC, pas de contrôle sur la densité du réseau. </a:t>
            </a:r>
            <a:endParaRPr sz="1250">
              <a:solidFill>
                <a:srgbClr val="000000"/>
              </a:solidFill>
            </a:endParaRPr>
          </a:p>
          <a:p>
            <a:pPr indent="-307975" lvl="2" marL="1371600" rtl="0" algn="l">
              <a:spcBef>
                <a:spcPts val="0"/>
              </a:spcBef>
              <a:spcAft>
                <a:spcPts val="0"/>
              </a:spcAft>
              <a:buClr>
                <a:srgbClr val="000000"/>
              </a:buClr>
              <a:buSzPts val="1250"/>
              <a:buChar char="■"/>
            </a:pPr>
            <a:r>
              <a:rPr lang="fr" sz="1250">
                <a:solidFill>
                  <a:srgbClr val="000000"/>
                </a:solidFill>
              </a:rPr>
              <a:t>MMHC: Hybrid, (constraint-based skeleton + score-based orientation)</a:t>
            </a:r>
            <a:endParaRPr sz="1250">
              <a:solidFill>
                <a:srgbClr val="000000"/>
              </a:solidFill>
            </a:endParaRPr>
          </a:p>
          <a:p>
            <a:pPr indent="-307975" lvl="2" marL="1371600" rtl="0" algn="l">
              <a:spcBef>
                <a:spcPts val="0"/>
              </a:spcBef>
              <a:spcAft>
                <a:spcPts val="0"/>
              </a:spcAft>
              <a:buClr>
                <a:srgbClr val="000000"/>
              </a:buClr>
              <a:buSzPts val="1250"/>
              <a:buChar char="■"/>
            </a:pPr>
            <a:r>
              <a:rPr lang="fr" sz="1250">
                <a:solidFill>
                  <a:srgbClr val="000000"/>
                </a:solidFill>
              </a:rPr>
              <a:t>GENIE3: Feature importance</a:t>
            </a:r>
            <a:endParaRPr>
              <a:solidFill>
                <a:srgbClr val="000000"/>
              </a:solidFill>
            </a:endParaRPr>
          </a:p>
          <a:p>
            <a:pPr indent="-317500" lvl="1" marL="914400" rtl="0" algn="l">
              <a:spcBef>
                <a:spcPts val="0"/>
              </a:spcBef>
              <a:spcAft>
                <a:spcPts val="0"/>
              </a:spcAft>
              <a:buClr>
                <a:srgbClr val="000000"/>
              </a:buClr>
              <a:buSzPts val="1400"/>
              <a:buChar char="➢"/>
            </a:pPr>
            <a:r>
              <a:rPr lang="fr">
                <a:solidFill>
                  <a:srgbClr val="000000"/>
                </a:solidFill>
              </a:rPr>
              <a:t>Quantifier les résultats</a:t>
            </a:r>
            <a:endParaRPr>
              <a:solidFill>
                <a:srgbClr val="000000"/>
              </a:solidFill>
            </a:endParaRPr>
          </a:p>
          <a:p>
            <a:pPr indent="-317500" lvl="2" marL="1371600" rtl="0" algn="l">
              <a:spcBef>
                <a:spcPts val="0"/>
              </a:spcBef>
              <a:spcAft>
                <a:spcPts val="0"/>
              </a:spcAft>
              <a:buClr>
                <a:srgbClr val="000000"/>
              </a:buClr>
              <a:buSzPts val="1400"/>
              <a:buChar char="■"/>
            </a:pPr>
            <a:r>
              <a:rPr lang="fr">
                <a:solidFill>
                  <a:srgbClr val="000000"/>
                </a:solidFill>
              </a:rPr>
              <a:t>Fold enrichment</a:t>
            </a:r>
            <a:endParaRPr>
              <a:solidFill>
                <a:srgbClr val="000000"/>
              </a:solidFill>
            </a:endParaRPr>
          </a:p>
          <a:p>
            <a:pPr indent="-317500" lvl="2" marL="1371600" rtl="0" algn="l">
              <a:spcBef>
                <a:spcPts val="0"/>
              </a:spcBef>
              <a:spcAft>
                <a:spcPts val="0"/>
              </a:spcAft>
              <a:buClr>
                <a:srgbClr val="000000"/>
              </a:buClr>
              <a:buSzPts val="1400"/>
              <a:buChar char="■"/>
            </a:pPr>
            <a:r>
              <a:rPr lang="fr">
                <a:solidFill>
                  <a:srgbClr val="000000"/>
                </a:solidFill>
              </a:rPr>
              <a:t>Heuristiques</a:t>
            </a: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a:t>Données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7975" lvl="0" marL="457200" rtl="0" algn="l">
              <a:spcBef>
                <a:spcPts val="0"/>
              </a:spcBef>
              <a:spcAft>
                <a:spcPts val="0"/>
              </a:spcAft>
              <a:buClr>
                <a:schemeClr val="dk1"/>
              </a:buClr>
              <a:buSzPts val="1250"/>
              <a:buChar char="❖"/>
            </a:pPr>
            <a:r>
              <a:rPr lang="fr" sz="1250">
                <a:solidFill>
                  <a:schemeClr val="dk1"/>
                </a:solidFill>
              </a:rPr>
              <a:t>Données d’expression génétique (INPUT, given)</a:t>
            </a:r>
            <a:endParaRPr sz="1250">
              <a:solidFill>
                <a:schemeClr val="dk1"/>
              </a:solidFill>
            </a:endParaRPr>
          </a:p>
          <a:p>
            <a:pPr indent="-307975" lvl="0" marL="457200" rtl="0" algn="l">
              <a:spcBef>
                <a:spcPts val="0"/>
              </a:spcBef>
              <a:spcAft>
                <a:spcPts val="0"/>
              </a:spcAft>
              <a:buClr>
                <a:schemeClr val="dk1"/>
              </a:buClr>
              <a:buSzPts val="1250"/>
              <a:buChar char="❖"/>
            </a:pPr>
            <a:r>
              <a:rPr lang="fr" sz="1250">
                <a:solidFill>
                  <a:schemeClr val="dk1"/>
                </a:solidFill>
              </a:rPr>
              <a:t>Données expérimentales (SCORE, online)</a:t>
            </a:r>
            <a:endParaRPr sz="1250">
              <a:solidFill>
                <a:schemeClr val="dk1"/>
              </a:solidFill>
            </a:endParaRPr>
          </a:p>
          <a:p>
            <a:pPr indent="-307975" lvl="1" marL="914400" rtl="0" algn="l">
              <a:spcBef>
                <a:spcPts val="0"/>
              </a:spcBef>
              <a:spcAft>
                <a:spcPts val="0"/>
              </a:spcAft>
              <a:buClr>
                <a:schemeClr val="dk1"/>
              </a:buClr>
              <a:buSzPts val="1250"/>
              <a:buChar char="➢"/>
            </a:pPr>
            <a:r>
              <a:rPr lang="fr" sz="1250">
                <a:solidFill>
                  <a:schemeClr val="dk1"/>
                </a:solidFill>
              </a:rPr>
              <a:t>BIOGRID</a:t>
            </a:r>
            <a:endParaRPr sz="1250">
              <a:solidFill>
                <a:schemeClr val="dk1"/>
              </a:solidFill>
            </a:endParaRPr>
          </a:p>
          <a:p>
            <a:pPr indent="-307975" lvl="2" marL="1371600" rtl="0" algn="l">
              <a:spcBef>
                <a:spcPts val="0"/>
              </a:spcBef>
              <a:spcAft>
                <a:spcPts val="0"/>
              </a:spcAft>
              <a:buClr>
                <a:schemeClr val="dk1"/>
              </a:buClr>
              <a:buSzPts val="1250"/>
              <a:buChar char="■"/>
            </a:pPr>
            <a:r>
              <a:rPr lang="fr" sz="1250">
                <a:solidFill>
                  <a:schemeClr val="dk1"/>
                </a:solidFill>
              </a:rPr>
              <a:t>508019 interactions (240 entrées liées à nos TF)</a:t>
            </a:r>
            <a:endParaRPr sz="1250">
              <a:solidFill>
                <a:schemeClr val="dk1"/>
              </a:solidFill>
            </a:endParaRPr>
          </a:p>
          <a:p>
            <a:pPr indent="-307975" lvl="2" marL="1371600" rtl="0" algn="l">
              <a:spcBef>
                <a:spcPts val="0"/>
              </a:spcBef>
              <a:spcAft>
                <a:spcPts val="0"/>
              </a:spcAft>
              <a:buClr>
                <a:schemeClr val="dk1"/>
              </a:buClr>
              <a:buSzPts val="1250"/>
              <a:buChar char="■"/>
            </a:pPr>
            <a:r>
              <a:rPr lang="fr" sz="1250">
                <a:solidFill>
                  <a:schemeClr val="dk1"/>
                </a:solidFill>
              </a:rPr>
              <a:t>Pas de donnée sur les interactions entre histones</a:t>
            </a:r>
            <a:endParaRPr sz="1250">
              <a:solidFill>
                <a:schemeClr val="dk1"/>
              </a:solidFill>
            </a:endParaRPr>
          </a:p>
          <a:p>
            <a:pPr indent="-307975" lvl="2" marL="1371600" rtl="0" algn="l">
              <a:spcBef>
                <a:spcPts val="0"/>
              </a:spcBef>
              <a:spcAft>
                <a:spcPts val="0"/>
              </a:spcAft>
              <a:buClr>
                <a:schemeClr val="dk1"/>
              </a:buClr>
              <a:buSzPts val="1250"/>
              <a:buChar char="■"/>
            </a:pPr>
            <a:r>
              <a:rPr lang="fr" sz="1100" u="sng">
                <a:solidFill>
                  <a:schemeClr val="accent5"/>
                </a:solidFill>
                <a:hlinkClick r:id="rId3"/>
              </a:rPr>
              <a:t>https://thebiogrid.org/</a:t>
            </a:r>
            <a:endParaRPr sz="1250">
              <a:solidFill>
                <a:schemeClr val="dk1"/>
              </a:solidFill>
            </a:endParaRPr>
          </a:p>
          <a:p>
            <a:pPr indent="-307975" lvl="1" marL="914400" rtl="0" algn="l">
              <a:spcBef>
                <a:spcPts val="0"/>
              </a:spcBef>
              <a:spcAft>
                <a:spcPts val="0"/>
              </a:spcAft>
              <a:buClr>
                <a:schemeClr val="dk1"/>
              </a:buClr>
              <a:buSzPts val="1250"/>
              <a:buChar char="➢"/>
            </a:pPr>
            <a:r>
              <a:rPr lang="fr" sz="1250">
                <a:solidFill>
                  <a:schemeClr val="dk1"/>
                </a:solidFill>
              </a:rPr>
              <a:t>HI-union</a:t>
            </a:r>
            <a:endParaRPr sz="1250">
              <a:solidFill>
                <a:schemeClr val="dk1"/>
              </a:solidFill>
            </a:endParaRPr>
          </a:p>
          <a:p>
            <a:pPr indent="-307975" lvl="2" marL="1371600" rtl="0" algn="l">
              <a:spcBef>
                <a:spcPts val="0"/>
              </a:spcBef>
              <a:spcAft>
                <a:spcPts val="0"/>
              </a:spcAft>
              <a:buClr>
                <a:schemeClr val="dk1"/>
              </a:buClr>
              <a:buSzPts val="1250"/>
              <a:buChar char="■"/>
            </a:pPr>
            <a:r>
              <a:rPr lang="fr" sz="1250">
                <a:solidFill>
                  <a:schemeClr val="dk1"/>
                </a:solidFill>
              </a:rPr>
              <a:t>64006 interactions (0 entrées liées à nos TF)</a:t>
            </a:r>
            <a:endParaRPr sz="1250">
              <a:solidFill>
                <a:schemeClr val="dk1"/>
              </a:solidFill>
            </a:endParaRPr>
          </a:p>
          <a:p>
            <a:pPr indent="-307975" lvl="2" marL="1371600" rtl="0" algn="l">
              <a:spcBef>
                <a:spcPts val="0"/>
              </a:spcBef>
              <a:spcAft>
                <a:spcPts val="0"/>
              </a:spcAft>
              <a:buClr>
                <a:schemeClr val="dk1"/>
              </a:buClr>
              <a:buSzPts val="1250"/>
              <a:buChar char="■"/>
            </a:pPr>
            <a:r>
              <a:rPr lang="fr" sz="1100" u="sng">
                <a:solidFill>
                  <a:schemeClr val="hlink"/>
                </a:solidFill>
                <a:hlinkClick r:id="rId4"/>
              </a:rPr>
              <a:t>http://interactome.baderlab.org/</a:t>
            </a:r>
            <a:endParaRPr sz="1250">
              <a:solidFill>
                <a:schemeClr val="dk1"/>
              </a:solidFill>
            </a:endParaRPr>
          </a:p>
          <a:p>
            <a:pPr indent="-307975" lvl="1" marL="914400" rtl="0" algn="l">
              <a:spcBef>
                <a:spcPts val="0"/>
              </a:spcBef>
              <a:spcAft>
                <a:spcPts val="0"/>
              </a:spcAft>
              <a:buClr>
                <a:schemeClr val="dk1"/>
              </a:buClr>
              <a:buSzPts val="1250"/>
              <a:buChar char="➢"/>
            </a:pPr>
            <a:r>
              <a:rPr lang="fr" sz="1250">
                <a:solidFill>
                  <a:schemeClr val="dk1"/>
                </a:solidFill>
              </a:rPr>
              <a:t>HuRI</a:t>
            </a:r>
            <a:endParaRPr sz="1250">
              <a:solidFill>
                <a:schemeClr val="dk1"/>
              </a:solidFill>
            </a:endParaRPr>
          </a:p>
          <a:p>
            <a:pPr indent="-307975" lvl="2" marL="1371600" rtl="0" algn="l">
              <a:spcBef>
                <a:spcPts val="0"/>
              </a:spcBef>
              <a:spcAft>
                <a:spcPts val="0"/>
              </a:spcAft>
              <a:buClr>
                <a:schemeClr val="dk1"/>
              </a:buClr>
              <a:buSzPts val="1250"/>
              <a:buChar char="■"/>
            </a:pPr>
            <a:r>
              <a:rPr lang="fr" sz="1250">
                <a:solidFill>
                  <a:schemeClr val="dk1"/>
                </a:solidFill>
              </a:rPr>
              <a:t>52570 interactions (0 entrées liées à nos TF)</a:t>
            </a:r>
            <a:endParaRPr sz="1250">
              <a:solidFill>
                <a:schemeClr val="dk1"/>
              </a:solidFill>
            </a:endParaRPr>
          </a:p>
          <a:p>
            <a:pPr indent="-307975" lvl="2" marL="1371600" rtl="0" algn="l">
              <a:spcBef>
                <a:spcPts val="0"/>
              </a:spcBef>
              <a:spcAft>
                <a:spcPts val="0"/>
              </a:spcAft>
              <a:buClr>
                <a:schemeClr val="dk1"/>
              </a:buClr>
              <a:buSzPts val="1250"/>
              <a:buChar char="■"/>
            </a:pPr>
            <a:r>
              <a:rPr lang="fr" sz="1100" u="sng">
                <a:solidFill>
                  <a:schemeClr val="hlink"/>
                </a:solidFill>
                <a:hlinkClick r:id="rId5"/>
              </a:rPr>
              <a:t>http://interactome.baderlab.org/</a:t>
            </a:r>
            <a:endParaRPr sz="1250">
              <a:solidFill>
                <a:schemeClr val="dk1"/>
              </a:solidFill>
            </a:endParaRPr>
          </a:p>
        </p:txBody>
      </p:sp>
      <p:sp>
        <p:nvSpPr>
          <p:cNvPr id="68" name="Google Shape;68;p15"/>
          <p:cNvSpPr txBox="1"/>
          <p:nvPr/>
        </p:nvSpPr>
        <p:spPr>
          <a:xfrm>
            <a:off x="6335025" y="296025"/>
            <a:ext cx="2360700" cy="777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fr"/>
              <a:t>TF: facteur de transcription, gènes présents dans les données d’expression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Réseau référence (données expérimentales)</a:t>
            </a:r>
            <a:endParaRPr/>
          </a:p>
        </p:txBody>
      </p:sp>
      <p:pic>
        <p:nvPicPr>
          <p:cNvPr id="74" name="Google Shape;74;p16"/>
          <p:cNvPicPr preferRelativeResize="0"/>
          <p:nvPr/>
        </p:nvPicPr>
        <p:blipFill>
          <a:blip r:embed="rId3">
            <a:alphaModFix/>
          </a:blip>
          <a:stretch>
            <a:fillRect/>
          </a:stretch>
        </p:blipFill>
        <p:spPr>
          <a:xfrm>
            <a:off x="1861950" y="1017725"/>
            <a:ext cx="5094633" cy="3820975"/>
          </a:xfrm>
          <a:prstGeom prst="rect">
            <a:avLst/>
          </a:prstGeom>
          <a:noFill/>
          <a:ln>
            <a:noFill/>
          </a:ln>
        </p:spPr>
      </p:pic>
      <p:sp>
        <p:nvSpPr>
          <p:cNvPr id="75" name="Google Shape;75;p16"/>
          <p:cNvSpPr txBox="1"/>
          <p:nvPr/>
        </p:nvSpPr>
        <p:spPr>
          <a:xfrm>
            <a:off x="362650" y="1702175"/>
            <a:ext cx="1635600" cy="27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50">
                <a:solidFill>
                  <a:schemeClr val="dk1"/>
                </a:solidFill>
              </a:rPr>
              <a:t>32 noeuds</a:t>
            </a:r>
            <a:endParaRPr sz="1150">
              <a:solidFill>
                <a:schemeClr val="dk1"/>
              </a:solidFill>
            </a:endParaRPr>
          </a:p>
          <a:p>
            <a:pPr indent="0" lvl="0" marL="0" rtl="0" algn="l">
              <a:spcBef>
                <a:spcPts val="0"/>
              </a:spcBef>
              <a:spcAft>
                <a:spcPts val="0"/>
              </a:spcAft>
              <a:buNone/>
            </a:pPr>
            <a:r>
              <a:rPr lang="fr" sz="1150">
                <a:solidFill>
                  <a:schemeClr val="dk1"/>
                </a:solidFill>
              </a:rPr>
              <a:t>68 arcs </a:t>
            </a:r>
            <a:endParaRPr sz="1150">
              <a:solidFill>
                <a:schemeClr val="dk1"/>
              </a:solidFill>
            </a:endParaRPr>
          </a:p>
          <a:p>
            <a:pPr indent="0" lvl="0" marL="0" rtl="0" algn="l">
              <a:spcBef>
                <a:spcPts val="0"/>
              </a:spcBef>
              <a:spcAft>
                <a:spcPts val="0"/>
              </a:spcAft>
              <a:buNone/>
            </a:pPr>
            <a:r>
              <a:rPr lang="fr" sz="1150">
                <a:solidFill>
                  <a:schemeClr val="dk1"/>
                </a:solidFill>
              </a:rPr>
              <a:t>12 autorégulations</a:t>
            </a:r>
            <a:endParaRPr sz="1150">
              <a:solidFill>
                <a:schemeClr val="dk1"/>
              </a:solidFill>
            </a:endParaRPr>
          </a:p>
          <a:p>
            <a:pPr indent="0" lvl="0" marL="0" rtl="0" algn="l">
              <a:spcBef>
                <a:spcPts val="0"/>
              </a:spcBef>
              <a:spcAft>
                <a:spcPts val="0"/>
              </a:spcAft>
              <a:buNone/>
            </a:pPr>
            <a:r>
              <a:rPr lang="fr" sz="1150">
                <a:solidFill>
                  <a:schemeClr val="dk1"/>
                </a:solidFill>
              </a:rPr>
              <a:t>13 noeuds inactifs</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rPr lang="fr" sz="1150">
                <a:solidFill>
                  <a:schemeClr val="dk1"/>
                </a:solidFill>
              </a:rPr>
              <a:t>#arc moyens = 3.58</a:t>
            </a:r>
            <a:endParaRPr sz="1150">
              <a:solidFill>
                <a:schemeClr val="dk1"/>
              </a:solidFill>
            </a:endParaRPr>
          </a:p>
          <a:p>
            <a:pPr indent="0" lvl="0" marL="0" rtl="0" algn="l">
              <a:spcBef>
                <a:spcPts val="0"/>
              </a:spcBef>
              <a:spcAft>
                <a:spcPts val="0"/>
              </a:spcAft>
              <a:buClr>
                <a:schemeClr val="dk1"/>
              </a:buClr>
              <a:buSzPts val="1100"/>
              <a:buFont typeface="Arial"/>
              <a:buNone/>
            </a:pPr>
            <a:r>
              <a:rPr lang="fr" sz="1150">
                <a:solidFill>
                  <a:schemeClr val="dk1"/>
                </a:solidFill>
              </a:rPr>
              <a:t>#arcs estimé = 114.53</a:t>
            </a:r>
            <a:endParaRPr sz="115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a:t>Fold enrichment</a:t>
            </a:r>
            <a:endParaRPr/>
          </a:p>
        </p:txBody>
      </p:sp>
      <p:pic>
        <p:nvPicPr>
          <p:cNvPr id="81" name="Google Shape;81;p17"/>
          <p:cNvPicPr preferRelativeResize="0"/>
          <p:nvPr/>
        </p:nvPicPr>
        <p:blipFill>
          <a:blip r:embed="rId3">
            <a:alphaModFix/>
          </a:blip>
          <a:stretch>
            <a:fillRect/>
          </a:stretch>
        </p:blipFill>
        <p:spPr>
          <a:xfrm>
            <a:off x="2528875" y="2084475"/>
            <a:ext cx="4086225" cy="752475"/>
          </a:xfrm>
          <a:prstGeom prst="rect">
            <a:avLst/>
          </a:prstGeom>
          <a:noFill/>
          <a:ln>
            <a:noFill/>
          </a:ln>
        </p:spPr>
      </p:pic>
      <p:pic>
        <p:nvPicPr>
          <p:cNvPr id="82" name="Google Shape;82;p17"/>
          <p:cNvPicPr preferRelativeResize="0"/>
          <p:nvPr/>
        </p:nvPicPr>
        <p:blipFill>
          <a:blip r:embed="rId4">
            <a:alphaModFix/>
          </a:blip>
          <a:stretch>
            <a:fillRect/>
          </a:stretch>
        </p:blipFill>
        <p:spPr>
          <a:xfrm>
            <a:off x="2528888" y="2870650"/>
            <a:ext cx="3257550" cy="571500"/>
          </a:xfrm>
          <a:prstGeom prst="rect">
            <a:avLst/>
          </a:prstGeom>
          <a:noFill/>
          <a:ln>
            <a:noFill/>
          </a:ln>
        </p:spPr>
      </p:pic>
      <p:sp>
        <p:nvSpPr>
          <p:cNvPr id="83" name="Google Shape;83;p17"/>
          <p:cNvSpPr txBox="1"/>
          <p:nvPr/>
        </p:nvSpPr>
        <p:spPr>
          <a:xfrm>
            <a:off x="5261900" y="445025"/>
            <a:ext cx="3374700" cy="572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fr"/>
              <a:t>Fonction de score qui cumule erreur de type I et type II</a:t>
            </a:r>
            <a:endParaRPr/>
          </a:p>
        </p:txBody>
      </p:sp>
      <p:sp>
        <p:nvSpPr>
          <p:cNvPr id="84" name="Google Shape;84;p17"/>
          <p:cNvSpPr txBox="1"/>
          <p:nvPr/>
        </p:nvSpPr>
        <p:spPr>
          <a:xfrm>
            <a:off x="510650" y="3755700"/>
            <a:ext cx="4647600" cy="9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t>TP: arc prédit et présent dans le réseau de référence.</a:t>
            </a:r>
            <a:endParaRPr/>
          </a:p>
          <a:p>
            <a:pPr indent="0" lvl="0" marL="0" rtl="0" algn="l">
              <a:spcBef>
                <a:spcPts val="0"/>
              </a:spcBef>
              <a:spcAft>
                <a:spcPts val="0"/>
              </a:spcAft>
              <a:buNone/>
            </a:pPr>
            <a:r>
              <a:rPr lang="fr"/>
              <a:t>FP: arc prédit mais absent du réseau de référence. </a:t>
            </a:r>
            <a:endParaRPr/>
          </a:p>
          <a:p>
            <a:pPr indent="0" lvl="0" marL="0" rtl="0" algn="l">
              <a:spcBef>
                <a:spcPts val="0"/>
              </a:spcBef>
              <a:spcAft>
                <a:spcPts val="0"/>
              </a:spcAft>
              <a:buNone/>
            </a:pPr>
            <a:r>
              <a:rPr lang="fr"/>
              <a:t>FN: arc absent du réseau de référence. </a:t>
            </a:r>
            <a:endParaRPr/>
          </a:p>
          <a:p>
            <a:pPr indent="0" lvl="0" marL="0" rtl="0" algn="l">
              <a:spcBef>
                <a:spcPts val="0"/>
              </a:spcBef>
              <a:spcAft>
                <a:spcPts val="0"/>
              </a:spcAft>
              <a:buNone/>
            </a:pPr>
            <a:r>
              <a:rPr lang="fr"/>
              <a:t>N: nombre d’arc total (32x32)</a:t>
            </a:r>
            <a:endParaRPr/>
          </a:p>
        </p:txBody>
      </p:sp>
      <p:pic>
        <p:nvPicPr>
          <p:cNvPr id="85" name="Google Shape;85;p17"/>
          <p:cNvPicPr preferRelativeResize="0"/>
          <p:nvPr/>
        </p:nvPicPr>
        <p:blipFill>
          <a:blip r:embed="rId5">
            <a:alphaModFix/>
          </a:blip>
          <a:stretch>
            <a:fillRect/>
          </a:stretch>
        </p:blipFill>
        <p:spPr>
          <a:xfrm>
            <a:off x="2528862" y="1602650"/>
            <a:ext cx="3680950" cy="5484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Fold enrichment et Précision sur 5 appels</a:t>
            </a:r>
            <a:endParaRPr/>
          </a:p>
        </p:txBody>
      </p:sp>
      <p:pic>
        <p:nvPicPr>
          <p:cNvPr id="91" name="Google Shape;91;p18"/>
          <p:cNvPicPr preferRelativeResize="0"/>
          <p:nvPr/>
        </p:nvPicPr>
        <p:blipFill>
          <a:blip r:embed="rId3">
            <a:alphaModFix/>
          </a:blip>
          <a:stretch>
            <a:fillRect/>
          </a:stretch>
        </p:blipFill>
        <p:spPr>
          <a:xfrm>
            <a:off x="-44400" y="1665150"/>
            <a:ext cx="3105399" cy="2329049"/>
          </a:xfrm>
          <a:prstGeom prst="rect">
            <a:avLst/>
          </a:prstGeom>
          <a:noFill/>
          <a:ln>
            <a:noFill/>
          </a:ln>
        </p:spPr>
      </p:pic>
      <p:pic>
        <p:nvPicPr>
          <p:cNvPr id="92" name="Google Shape;92;p18"/>
          <p:cNvPicPr preferRelativeResize="0"/>
          <p:nvPr/>
        </p:nvPicPr>
        <p:blipFill>
          <a:blip r:embed="rId4">
            <a:alphaModFix/>
          </a:blip>
          <a:stretch>
            <a:fillRect/>
          </a:stretch>
        </p:blipFill>
        <p:spPr>
          <a:xfrm>
            <a:off x="6075600" y="1665150"/>
            <a:ext cx="3105399" cy="2329049"/>
          </a:xfrm>
          <a:prstGeom prst="rect">
            <a:avLst/>
          </a:prstGeom>
          <a:noFill/>
          <a:ln>
            <a:noFill/>
          </a:ln>
        </p:spPr>
      </p:pic>
      <p:pic>
        <p:nvPicPr>
          <p:cNvPr id="93" name="Google Shape;93;p18"/>
          <p:cNvPicPr preferRelativeResize="0"/>
          <p:nvPr/>
        </p:nvPicPr>
        <p:blipFill>
          <a:blip r:embed="rId5">
            <a:alphaModFix/>
          </a:blip>
          <a:stretch>
            <a:fillRect/>
          </a:stretch>
        </p:blipFill>
        <p:spPr>
          <a:xfrm>
            <a:off x="3019300" y="1665150"/>
            <a:ext cx="3105399" cy="2329049"/>
          </a:xfrm>
          <a:prstGeom prst="rect">
            <a:avLst/>
          </a:prstGeom>
          <a:noFill/>
          <a:ln>
            <a:noFill/>
          </a:ln>
        </p:spPr>
      </p:pic>
      <p:sp>
        <p:nvSpPr>
          <p:cNvPr id="94" name="Google Shape;94;p18"/>
          <p:cNvSpPr txBox="1"/>
          <p:nvPr/>
        </p:nvSpPr>
        <p:spPr>
          <a:xfrm>
            <a:off x="7298950" y="3994200"/>
            <a:ext cx="584700" cy="3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t>miic</a:t>
            </a:r>
            <a:endParaRPr/>
          </a:p>
        </p:txBody>
      </p:sp>
      <p:sp>
        <p:nvSpPr>
          <p:cNvPr id="95" name="Google Shape;95;p18"/>
          <p:cNvSpPr txBox="1"/>
          <p:nvPr/>
        </p:nvSpPr>
        <p:spPr>
          <a:xfrm>
            <a:off x="1319000" y="4011300"/>
            <a:ext cx="467400" cy="3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t>HC</a:t>
            </a:r>
            <a:endParaRPr/>
          </a:p>
        </p:txBody>
      </p:sp>
      <p:sp>
        <p:nvSpPr>
          <p:cNvPr id="96" name="Google Shape;96;p18"/>
          <p:cNvSpPr txBox="1"/>
          <p:nvPr/>
        </p:nvSpPr>
        <p:spPr>
          <a:xfrm>
            <a:off x="4143450" y="4028400"/>
            <a:ext cx="940500" cy="36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t>GENIE3</a:t>
            </a:r>
            <a:endParaRPr/>
          </a:p>
        </p:txBody>
      </p:sp>
      <p:sp>
        <p:nvSpPr>
          <p:cNvPr id="97" name="Google Shape;97;p18"/>
          <p:cNvSpPr txBox="1"/>
          <p:nvPr/>
        </p:nvSpPr>
        <p:spPr>
          <a:xfrm>
            <a:off x="311700" y="4507050"/>
            <a:ext cx="6859500" cy="394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fr" u="sng"/>
              <a:t>Remarque:</a:t>
            </a:r>
            <a:r>
              <a:rPr lang="fr"/>
              <a:t> Aucun changement entre 2 appels, il n’y a pas d’aléa dans l’initialisation.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Fold enrichment, HC</a:t>
            </a:r>
            <a:endParaRPr/>
          </a:p>
        </p:txBody>
      </p:sp>
      <p:pic>
        <p:nvPicPr>
          <p:cNvPr id="103" name="Google Shape;103;p19"/>
          <p:cNvPicPr preferRelativeResize="0"/>
          <p:nvPr/>
        </p:nvPicPr>
        <p:blipFill>
          <a:blip r:embed="rId3">
            <a:alphaModFix/>
          </a:blip>
          <a:stretch>
            <a:fillRect/>
          </a:stretch>
        </p:blipFill>
        <p:spPr>
          <a:xfrm>
            <a:off x="2560767" y="958525"/>
            <a:ext cx="5456634" cy="4092476"/>
          </a:xfrm>
          <a:prstGeom prst="rect">
            <a:avLst/>
          </a:prstGeom>
          <a:noFill/>
          <a:ln>
            <a:noFill/>
          </a:ln>
        </p:spPr>
      </p:pic>
      <p:sp>
        <p:nvSpPr>
          <p:cNvPr id="104" name="Google Shape;104;p19"/>
          <p:cNvSpPr txBox="1"/>
          <p:nvPr/>
        </p:nvSpPr>
        <p:spPr>
          <a:xfrm>
            <a:off x="236825" y="1902000"/>
            <a:ext cx="1961400" cy="27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50">
                <a:solidFill>
                  <a:schemeClr val="dk1"/>
                </a:solidFill>
              </a:rPr>
              <a:t>0 autorégulateur</a:t>
            </a:r>
            <a:endParaRPr sz="1150">
              <a:solidFill>
                <a:schemeClr val="dk1"/>
              </a:solidFill>
            </a:endParaRPr>
          </a:p>
          <a:p>
            <a:pPr indent="0" lvl="0" marL="0" rtl="0" algn="l">
              <a:spcBef>
                <a:spcPts val="0"/>
              </a:spcBef>
              <a:spcAft>
                <a:spcPts val="0"/>
              </a:spcAft>
              <a:buNone/>
            </a:pPr>
            <a:r>
              <a:rPr lang="fr" sz="1150">
                <a:solidFill>
                  <a:schemeClr val="dk1"/>
                </a:solidFill>
              </a:rPr>
              <a:t>389 arcs</a:t>
            </a:r>
            <a:endParaRPr sz="1150">
              <a:solidFill>
                <a:schemeClr val="dk1"/>
              </a:solidFill>
            </a:endParaRPr>
          </a:p>
          <a:p>
            <a:pPr indent="0" lvl="0" marL="0" rtl="0" algn="l">
              <a:spcBef>
                <a:spcPts val="0"/>
              </a:spcBef>
              <a:spcAft>
                <a:spcPts val="0"/>
              </a:spcAft>
              <a:buNone/>
            </a:pPr>
            <a:r>
              <a:rPr lang="fr" sz="1150">
                <a:solidFill>
                  <a:schemeClr val="dk1"/>
                </a:solidFill>
              </a:rPr>
              <a:t>fold enrichment:  </a:t>
            </a:r>
            <a:r>
              <a:rPr lang="fr" sz="1150">
                <a:solidFill>
                  <a:srgbClr val="FF0000"/>
                </a:solidFill>
              </a:rPr>
              <a:t>0.8517</a:t>
            </a:r>
            <a:endParaRPr sz="1150">
              <a:solidFill>
                <a:srgbClr val="FF0000"/>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rPr lang="fr" sz="1150">
                <a:solidFill>
                  <a:schemeClr val="dk1"/>
                </a:solidFill>
              </a:rPr>
              <a:t>#arcs estimé = 114.53</a:t>
            </a:r>
            <a:endParaRPr sz="115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Fold enrichment, MMHC </a:t>
            </a:r>
            <a:r>
              <a:rPr lang="fr"/>
              <a:t>(alpha: 0.05)</a:t>
            </a:r>
            <a:endParaRPr sz="1150">
              <a:highlight>
                <a:srgbClr val="E4E8EE"/>
              </a:highlight>
            </a:endParaRPr>
          </a:p>
          <a:p>
            <a:pPr indent="0" lvl="0" marL="0" rtl="0" algn="l">
              <a:spcBef>
                <a:spcPts val="0"/>
              </a:spcBef>
              <a:spcAft>
                <a:spcPts val="0"/>
              </a:spcAft>
              <a:buNone/>
            </a:pPr>
            <a:r>
              <a:t/>
            </a:r>
            <a:endParaRPr/>
          </a:p>
        </p:txBody>
      </p:sp>
      <p:sp>
        <p:nvSpPr>
          <p:cNvPr id="110" name="Google Shape;110;p20"/>
          <p:cNvSpPr txBox="1"/>
          <p:nvPr/>
        </p:nvSpPr>
        <p:spPr>
          <a:xfrm>
            <a:off x="236825" y="1902000"/>
            <a:ext cx="1961400" cy="27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50">
                <a:solidFill>
                  <a:schemeClr val="dk1"/>
                </a:solidFill>
              </a:rPr>
              <a:t>0 autorégulateur</a:t>
            </a:r>
            <a:endParaRPr sz="1150">
              <a:solidFill>
                <a:schemeClr val="dk1"/>
              </a:solidFill>
            </a:endParaRPr>
          </a:p>
          <a:p>
            <a:pPr indent="0" lvl="0" marL="0" rtl="0" algn="l">
              <a:spcBef>
                <a:spcPts val="0"/>
              </a:spcBef>
              <a:spcAft>
                <a:spcPts val="0"/>
              </a:spcAft>
              <a:buNone/>
            </a:pPr>
            <a:r>
              <a:rPr lang="fr" sz="1150">
                <a:solidFill>
                  <a:schemeClr val="dk1"/>
                </a:solidFill>
              </a:rPr>
              <a:t>75</a:t>
            </a:r>
            <a:r>
              <a:rPr lang="fr" sz="1150">
                <a:solidFill>
                  <a:schemeClr val="dk1"/>
                </a:solidFill>
              </a:rPr>
              <a:t> arcs</a:t>
            </a:r>
            <a:endParaRPr sz="1150">
              <a:solidFill>
                <a:schemeClr val="dk1"/>
              </a:solidFill>
            </a:endParaRPr>
          </a:p>
          <a:p>
            <a:pPr indent="0" lvl="0" marL="0" rtl="0" algn="l">
              <a:spcBef>
                <a:spcPts val="0"/>
              </a:spcBef>
              <a:spcAft>
                <a:spcPts val="0"/>
              </a:spcAft>
              <a:buNone/>
            </a:pPr>
            <a:r>
              <a:rPr lang="fr" sz="1150">
                <a:solidFill>
                  <a:schemeClr val="dk1"/>
                </a:solidFill>
              </a:rPr>
              <a:t>fold enrichment:  </a:t>
            </a:r>
            <a:r>
              <a:rPr lang="fr" sz="1150">
                <a:solidFill>
                  <a:srgbClr val="FF0000"/>
                </a:solidFill>
              </a:rPr>
              <a:t>1.3514</a:t>
            </a:r>
            <a:endParaRPr sz="1150">
              <a:solidFill>
                <a:srgbClr val="FF0000"/>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rPr lang="fr" sz="1150">
                <a:solidFill>
                  <a:schemeClr val="dk1"/>
                </a:solidFill>
              </a:rPr>
              <a:t>#arcs estimé = 114.53</a:t>
            </a:r>
            <a:endParaRPr sz="1150">
              <a:solidFill>
                <a:schemeClr val="dk1"/>
              </a:solidFill>
            </a:endParaRPr>
          </a:p>
        </p:txBody>
      </p:sp>
      <p:pic>
        <p:nvPicPr>
          <p:cNvPr id="111" name="Google Shape;111;p20"/>
          <p:cNvPicPr preferRelativeResize="0"/>
          <p:nvPr/>
        </p:nvPicPr>
        <p:blipFill>
          <a:blip r:embed="rId3">
            <a:alphaModFix/>
          </a:blip>
          <a:stretch>
            <a:fillRect/>
          </a:stretch>
        </p:blipFill>
        <p:spPr>
          <a:xfrm>
            <a:off x="2506050" y="1073925"/>
            <a:ext cx="5094633" cy="3820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Fold enrichment, miic</a:t>
            </a:r>
            <a:endParaRPr/>
          </a:p>
        </p:txBody>
      </p:sp>
      <p:pic>
        <p:nvPicPr>
          <p:cNvPr id="117" name="Google Shape;117;p21"/>
          <p:cNvPicPr preferRelativeResize="0"/>
          <p:nvPr/>
        </p:nvPicPr>
        <p:blipFill>
          <a:blip r:embed="rId3">
            <a:alphaModFix/>
          </a:blip>
          <a:stretch>
            <a:fillRect/>
          </a:stretch>
        </p:blipFill>
        <p:spPr>
          <a:xfrm>
            <a:off x="2417225" y="1073925"/>
            <a:ext cx="5094633" cy="3820975"/>
          </a:xfrm>
          <a:prstGeom prst="rect">
            <a:avLst/>
          </a:prstGeom>
          <a:noFill/>
          <a:ln>
            <a:noFill/>
          </a:ln>
        </p:spPr>
      </p:pic>
      <p:sp>
        <p:nvSpPr>
          <p:cNvPr id="118" name="Google Shape;118;p21"/>
          <p:cNvSpPr txBox="1"/>
          <p:nvPr/>
        </p:nvSpPr>
        <p:spPr>
          <a:xfrm>
            <a:off x="236825" y="1902000"/>
            <a:ext cx="1961400" cy="27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50">
                <a:solidFill>
                  <a:schemeClr val="dk1"/>
                </a:solidFill>
              </a:rPr>
              <a:t>0 autorégulateur</a:t>
            </a:r>
            <a:endParaRPr sz="1150">
              <a:solidFill>
                <a:schemeClr val="dk1"/>
              </a:solidFill>
            </a:endParaRPr>
          </a:p>
          <a:p>
            <a:pPr indent="0" lvl="0" marL="0" rtl="0" algn="l">
              <a:spcBef>
                <a:spcPts val="0"/>
              </a:spcBef>
              <a:spcAft>
                <a:spcPts val="0"/>
              </a:spcAft>
              <a:buNone/>
            </a:pPr>
            <a:r>
              <a:rPr lang="fr" sz="1150">
                <a:solidFill>
                  <a:schemeClr val="dk1"/>
                </a:solidFill>
              </a:rPr>
              <a:t>140 arcs</a:t>
            </a:r>
            <a:endParaRPr sz="1150">
              <a:solidFill>
                <a:schemeClr val="dk1"/>
              </a:solidFill>
            </a:endParaRPr>
          </a:p>
          <a:p>
            <a:pPr indent="0" lvl="0" marL="0" rtl="0" algn="l">
              <a:spcBef>
                <a:spcPts val="0"/>
              </a:spcBef>
              <a:spcAft>
                <a:spcPts val="0"/>
              </a:spcAft>
              <a:buNone/>
            </a:pPr>
            <a:r>
              <a:rPr lang="fr" sz="1150">
                <a:solidFill>
                  <a:schemeClr val="dk1"/>
                </a:solidFill>
              </a:rPr>
              <a:t>fold enrichment:  </a:t>
            </a:r>
            <a:r>
              <a:rPr lang="fr" sz="1150">
                <a:solidFill>
                  <a:srgbClr val="FF0000"/>
                </a:solidFill>
              </a:rPr>
              <a:t>1.721</a:t>
            </a:r>
            <a:endParaRPr sz="1150">
              <a:solidFill>
                <a:srgbClr val="FF0000"/>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rPr lang="fr" sz="1150">
                <a:solidFill>
                  <a:schemeClr val="dk1"/>
                </a:solidFill>
              </a:rPr>
              <a:t>#arcs estimé = 114.53</a:t>
            </a:r>
            <a:endParaRPr sz="1150">
              <a:solidFill>
                <a:schemeClr val="dk1"/>
              </a:solidFill>
            </a:endParaRPr>
          </a:p>
        </p:txBody>
      </p:sp>
      <p:sp>
        <p:nvSpPr>
          <p:cNvPr id="119" name="Google Shape;119;p21"/>
          <p:cNvSpPr/>
          <p:nvPr/>
        </p:nvSpPr>
        <p:spPr>
          <a:xfrm rot="-1123197">
            <a:off x="4244491" y="2250409"/>
            <a:ext cx="991766" cy="253016"/>
          </a:xfrm>
          <a:prstGeom prst="rect">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1"/>
          <p:cNvSpPr txBox="1"/>
          <p:nvPr/>
        </p:nvSpPr>
        <p:spPr>
          <a:xfrm>
            <a:off x="5017700" y="347825"/>
            <a:ext cx="3814500" cy="480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fr" sz="1100"/>
              <a:t>arc(</a:t>
            </a:r>
            <a:r>
              <a:rPr lang="fr" sz="1100"/>
              <a:t>H3K27ac → H3K27me3) à faible indice de confiance</a:t>
            </a:r>
            <a:endParaRPr sz="1100"/>
          </a:p>
          <a:p>
            <a:pPr indent="0" lvl="0" marL="0" rtl="0" algn="l">
              <a:spcBef>
                <a:spcPts val="0"/>
              </a:spcBef>
              <a:spcAft>
                <a:spcPts val="0"/>
              </a:spcAft>
              <a:buNone/>
            </a:pPr>
            <a:r>
              <a:rPr lang="fr" sz="1100"/>
              <a:t>2 TF incompatibles, l’algorithme ne fait pas n’importe quoi </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Fold enrichment, PC (alpha: 0.4)</a:t>
            </a:r>
            <a:endParaRPr/>
          </a:p>
        </p:txBody>
      </p:sp>
      <p:sp>
        <p:nvSpPr>
          <p:cNvPr id="126" name="Google Shape;126;p22"/>
          <p:cNvSpPr txBox="1"/>
          <p:nvPr/>
        </p:nvSpPr>
        <p:spPr>
          <a:xfrm>
            <a:off x="236825" y="1902000"/>
            <a:ext cx="1961400" cy="27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50">
                <a:solidFill>
                  <a:schemeClr val="dk1"/>
                </a:solidFill>
              </a:rPr>
              <a:t>0 autorégulateur</a:t>
            </a:r>
            <a:endParaRPr sz="1150">
              <a:solidFill>
                <a:schemeClr val="dk1"/>
              </a:solidFill>
            </a:endParaRPr>
          </a:p>
          <a:p>
            <a:pPr indent="0" lvl="0" marL="0" rtl="0" algn="l">
              <a:spcBef>
                <a:spcPts val="0"/>
              </a:spcBef>
              <a:spcAft>
                <a:spcPts val="0"/>
              </a:spcAft>
              <a:buNone/>
            </a:pPr>
            <a:r>
              <a:rPr lang="fr" sz="1150">
                <a:solidFill>
                  <a:schemeClr val="dk1"/>
                </a:solidFill>
              </a:rPr>
              <a:t>96</a:t>
            </a:r>
            <a:r>
              <a:rPr lang="fr" sz="1150">
                <a:solidFill>
                  <a:schemeClr val="dk1"/>
                </a:solidFill>
              </a:rPr>
              <a:t> arcs</a:t>
            </a:r>
            <a:endParaRPr sz="1150">
              <a:solidFill>
                <a:schemeClr val="dk1"/>
              </a:solidFill>
            </a:endParaRPr>
          </a:p>
          <a:p>
            <a:pPr indent="0" lvl="0" marL="0" rtl="0" algn="l">
              <a:spcBef>
                <a:spcPts val="0"/>
              </a:spcBef>
              <a:spcAft>
                <a:spcPts val="0"/>
              </a:spcAft>
              <a:buNone/>
            </a:pPr>
            <a:r>
              <a:rPr lang="fr" sz="1150">
                <a:solidFill>
                  <a:schemeClr val="dk1"/>
                </a:solidFill>
              </a:rPr>
              <a:t>fold enrichment:  </a:t>
            </a:r>
            <a:r>
              <a:rPr lang="fr" sz="1150">
                <a:solidFill>
                  <a:srgbClr val="FF0000"/>
                </a:solidFill>
              </a:rPr>
              <a:t>2.039</a:t>
            </a:r>
            <a:endParaRPr sz="1150">
              <a:solidFill>
                <a:srgbClr val="FF0000"/>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rPr lang="fr" sz="1150">
                <a:solidFill>
                  <a:schemeClr val="dk1"/>
                </a:solidFill>
              </a:rPr>
              <a:t>#arcs estimé = 114.53</a:t>
            </a:r>
            <a:endParaRPr sz="1150">
              <a:solidFill>
                <a:schemeClr val="dk1"/>
              </a:solidFill>
            </a:endParaRPr>
          </a:p>
        </p:txBody>
      </p:sp>
      <p:pic>
        <p:nvPicPr>
          <p:cNvPr id="127" name="Google Shape;127;p22"/>
          <p:cNvPicPr preferRelativeResize="0"/>
          <p:nvPr/>
        </p:nvPicPr>
        <p:blipFill>
          <a:blip r:embed="rId3">
            <a:alphaModFix/>
          </a:blip>
          <a:stretch>
            <a:fillRect/>
          </a:stretch>
        </p:blipFill>
        <p:spPr>
          <a:xfrm>
            <a:off x="2343225" y="1147925"/>
            <a:ext cx="5094633" cy="3820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Fold enrichment, GENIE3 Random Forest</a:t>
            </a:r>
            <a:endParaRPr/>
          </a:p>
        </p:txBody>
      </p:sp>
      <p:sp>
        <p:nvSpPr>
          <p:cNvPr id="133" name="Google Shape;133;p23"/>
          <p:cNvSpPr txBox="1"/>
          <p:nvPr/>
        </p:nvSpPr>
        <p:spPr>
          <a:xfrm>
            <a:off x="236825" y="1902000"/>
            <a:ext cx="1961400" cy="27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50">
                <a:solidFill>
                  <a:schemeClr val="dk1"/>
                </a:solidFill>
              </a:rPr>
              <a:t>0 autorégulateur</a:t>
            </a:r>
            <a:endParaRPr sz="1150">
              <a:solidFill>
                <a:schemeClr val="dk1"/>
              </a:solidFill>
            </a:endParaRPr>
          </a:p>
          <a:p>
            <a:pPr indent="0" lvl="0" marL="0" rtl="0" algn="l">
              <a:spcBef>
                <a:spcPts val="0"/>
              </a:spcBef>
              <a:spcAft>
                <a:spcPts val="0"/>
              </a:spcAft>
              <a:buNone/>
            </a:pPr>
            <a:r>
              <a:rPr lang="fr" sz="1150">
                <a:solidFill>
                  <a:schemeClr val="dk1"/>
                </a:solidFill>
              </a:rPr>
              <a:t>39</a:t>
            </a:r>
            <a:r>
              <a:rPr lang="fr" sz="1150">
                <a:solidFill>
                  <a:schemeClr val="dk1"/>
                </a:solidFill>
              </a:rPr>
              <a:t> arcs</a:t>
            </a:r>
            <a:endParaRPr sz="1150">
              <a:solidFill>
                <a:schemeClr val="dk1"/>
              </a:solidFill>
            </a:endParaRPr>
          </a:p>
          <a:p>
            <a:pPr indent="0" lvl="0" marL="0" rtl="0" algn="l">
              <a:spcBef>
                <a:spcPts val="0"/>
              </a:spcBef>
              <a:spcAft>
                <a:spcPts val="0"/>
              </a:spcAft>
              <a:buNone/>
            </a:pPr>
            <a:r>
              <a:rPr lang="fr" sz="1150">
                <a:solidFill>
                  <a:schemeClr val="dk1"/>
                </a:solidFill>
              </a:rPr>
              <a:t>fold enrichment:  </a:t>
            </a:r>
            <a:r>
              <a:rPr lang="fr" sz="1150">
                <a:solidFill>
                  <a:srgbClr val="FF0000"/>
                </a:solidFill>
              </a:rPr>
              <a:t>3.088989</a:t>
            </a:r>
            <a:endParaRPr sz="1150">
              <a:solidFill>
                <a:srgbClr val="FF0000"/>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rPr lang="fr" sz="1150">
                <a:solidFill>
                  <a:schemeClr val="dk1"/>
                </a:solidFill>
              </a:rPr>
              <a:t>#arcs estimé = 114.53</a:t>
            </a:r>
            <a:endParaRPr sz="1150">
              <a:solidFill>
                <a:schemeClr val="dk1"/>
              </a:solidFill>
            </a:endParaRPr>
          </a:p>
        </p:txBody>
      </p:sp>
      <p:pic>
        <p:nvPicPr>
          <p:cNvPr id="134" name="Google Shape;134;p23"/>
          <p:cNvPicPr preferRelativeResize="0"/>
          <p:nvPr/>
        </p:nvPicPr>
        <p:blipFill>
          <a:blip r:embed="rId3">
            <a:alphaModFix/>
          </a:blip>
          <a:stretch>
            <a:fillRect/>
          </a:stretch>
        </p:blipFill>
        <p:spPr>
          <a:xfrm>
            <a:off x="2350625" y="1170125"/>
            <a:ext cx="5094633" cy="3820975"/>
          </a:xfrm>
          <a:prstGeom prst="rect">
            <a:avLst/>
          </a:prstGeom>
          <a:noFill/>
          <a:ln>
            <a:noFill/>
          </a:ln>
        </p:spPr>
      </p:pic>
      <p:sp>
        <p:nvSpPr>
          <p:cNvPr id="135" name="Google Shape;135;p23"/>
          <p:cNvSpPr txBox="1"/>
          <p:nvPr/>
        </p:nvSpPr>
        <p:spPr>
          <a:xfrm>
            <a:off x="6512625" y="1280325"/>
            <a:ext cx="1502400" cy="392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fr"/>
              <a:t>6 composantes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Fold enrichment, GENIE3 Extra Trees</a:t>
            </a:r>
            <a:endParaRPr/>
          </a:p>
        </p:txBody>
      </p:sp>
      <p:sp>
        <p:nvSpPr>
          <p:cNvPr id="141" name="Google Shape;141;p24"/>
          <p:cNvSpPr txBox="1"/>
          <p:nvPr/>
        </p:nvSpPr>
        <p:spPr>
          <a:xfrm>
            <a:off x="236825" y="1902000"/>
            <a:ext cx="1961400" cy="27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50">
                <a:solidFill>
                  <a:schemeClr val="dk1"/>
                </a:solidFill>
              </a:rPr>
              <a:t>0 autorégulateur</a:t>
            </a:r>
            <a:endParaRPr sz="1150">
              <a:solidFill>
                <a:schemeClr val="dk1"/>
              </a:solidFill>
            </a:endParaRPr>
          </a:p>
          <a:p>
            <a:pPr indent="0" lvl="0" marL="0" rtl="0" algn="l">
              <a:spcBef>
                <a:spcPts val="0"/>
              </a:spcBef>
              <a:spcAft>
                <a:spcPts val="0"/>
              </a:spcAft>
              <a:buNone/>
            </a:pPr>
            <a:r>
              <a:rPr lang="fr" sz="1150">
                <a:solidFill>
                  <a:schemeClr val="dk1"/>
                </a:solidFill>
              </a:rPr>
              <a:t>9 arcs</a:t>
            </a:r>
            <a:endParaRPr sz="1150">
              <a:solidFill>
                <a:schemeClr val="dk1"/>
              </a:solidFill>
            </a:endParaRPr>
          </a:p>
          <a:p>
            <a:pPr indent="0" lvl="0" marL="0" rtl="0" algn="l">
              <a:spcBef>
                <a:spcPts val="0"/>
              </a:spcBef>
              <a:spcAft>
                <a:spcPts val="0"/>
              </a:spcAft>
              <a:buNone/>
            </a:pPr>
            <a:r>
              <a:rPr lang="fr" sz="1150">
                <a:solidFill>
                  <a:schemeClr val="dk1"/>
                </a:solidFill>
              </a:rPr>
              <a:t>fold enrichment:  </a:t>
            </a:r>
            <a:r>
              <a:rPr lang="fr" sz="1150">
                <a:solidFill>
                  <a:srgbClr val="FF0000"/>
                </a:solidFill>
              </a:rPr>
              <a:t>3.346405</a:t>
            </a:r>
            <a:endParaRPr sz="1150">
              <a:solidFill>
                <a:srgbClr val="FF0000"/>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rPr lang="fr" sz="1150">
                <a:solidFill>
                  <a:schemeClr val="dk1"/>
                </a:solidFill>
              </a:rPr>
              <a:t>#arcs estimé = 114.53</a:t>
            </a:r>
            <a:endParaRPr sz="1150">
              <a:solidFill>
                <a:schemeClr val="dk1"/>
              </a:solidFill>
            </a:endParaRPr>
          </a:p>
        </p:txBody>
      </p:sp>
      <p:pic>
        <p:nvPicPr>
          <p:cNvPr id="142" name="Google Shape;142;p24"/>
          <p:cNvPicPr preferRelativeResize="0"/>
          <p:nvPr/>
        </p:nvPicPr>
        <p:blipFill>
          <a:blip r:embed="rId3">
            <a:alphaModFix/>
          </a:blip>
          <a:stretch>
            <a:fillRect/>
          </a:stretch>
        </p:blipFill>
        <p:spPr>
          <a:xfrm>
            <a:off x="2350625" y="1170125"/>
            <a:ext cx="5094633" cy="3820975"/>
          </a:xfrm>
          <a:prstGeom prst="rect">
            <a:avLst/>
          </a:prstGeom>
          <a:noFill/>
          <a:ln>
            <a:noFill/>
          </a:ln>
        </p:spPr>
      </p:pic>
      <p:sp>
        <p:nvSpPr>
          <p:cNvPr id="143" name="Google Shape;143;p24"/>
          <p:cNvSpPr txBox="1"/>
          <p:nvPr/>
        </p:nvSpPr>
        <p:spPr>
          <a:xfrm>
            <a:off x="6512625" y="1280325"/>
            <a:ext cx="1879800" cy="392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fr"/>
              <a:t>Il n’y a presque rien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Remarques</a:t>
            </a:r>
            <a:endParaRPr/>
          </a:p>
        </p:txBody>
      </p:sp>
      <p:sp>
        <p:nvSpPr>
          <p:cNvPr id="149" name="Google Shape;149;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fr"/>
              <a:t>Aucun arc d’autorégulation.</a:t>
            </a:r>
            <a:endParaRPr/>
          </a:p>
          <a:p>
            <a:pPr indent="0" lvl="0" marL="457200" rtl="0" algn="l">
              <a:spcBef>
                <a:spcPts val="1600"/>
              </a:spcBef>
              <a:spcAft>
                <a:spcPts val="0"/>
              </a:spcAft>
              <a:buNone/>
            </a:pPr>
            <a:r>
              <a:t/>
            </a:r>
            <a:endParaRPr/>
          </a:p>
          <a:p>
            <a:pPr indent="-342900" lvl="0" marL="457200" rtl="0" algn="l">
              <a:spcBef>
                <a:spcPts val="1600"/>
              </a:spcBef>
              <a:spcAft>
                <a:spcPts val="0"/>
              </a:spcAft>
              <a:buSzPts val="1800"/>
              <a:buChar char="●"/>
            </a:pPr>
            <a:r>
              <a:rPr lang="fr"/>
              <a:t>Résultats de GENIE3 révèlent peu d’information tout en ayant les meilleurs scores. L’un a la moitié des interactions observées expérimentalement (39/68) et l’autre en a seulement (9/68). </a:t>
            </a:r>
            <a:endParaRPr/>
          </a:p>
          <a:p>
            <a:pPr indent="0" lvl="0" marL="457200" rtl="0" algn="l">
              <a:spcBef>
                <a:spcPts val="1600"/>
              </a:spcBef>
              <a:spcAft>
                <a:spcPts val="0"/>
              </a:spcAft>
              <a:buNone/>
            </a:pPr>
            <a:r>
              <a:rPr lang="fr" u="sng"/>
              <a:t>Intuition:</a:t>
            </a:r>
            <a:r>
              <a:rPr lang="fr"/>
              <a:t> Peu probable que ce soient réellement les optimums, l</a:t>
            </a:r>
            <a:r>
              <a:rPr lang="fr"/>
              <a:t>e fold enrichment est inadapté pour l’algorithme GENIE3. </a:t>
            </a:r>
            <a:endParaRPr/>
          </a:p>
          <a:p>
            <a:pPr indent="0" lvl="0" marL="0" rtl="0" algn="l">
              <a:spcBef>
                <a:spcPts val="160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Fold enrichment, GENIE3 en fonction du #arc</a:t>
            </a:r>
            <a:endParaRPr/>
          </a:p>
        </p:txBody>
      </p:sp>
      <p:pic>
        <p:nvPicPr>
          <p:cNvPr id="155" name="Google Shape;155;p26"/>
          <p:cNvPicPr preferRelativeResize="0"/>
          <p:nvPr/>
        </p:nvPicPr>
        <p:blipFill>
          <a:blip r:embed="rId3">
            <a:alphaModFix/>
          </a:blip>
          <a:stretch>
            <a:fillRect/>
          </a:stretch>
        </p:blipFill>
        <p:spPr>
          <a:xfrm>
            <a:off x="4571988" y="1048875"/>
            <a:ext cx="3885726" cy="2914295"/>
          </a:xfrm>
          <a:prstGeom prst="rect">
            <a:avLst/>
          </a:prstGeom>
          <a:noFill/>
          <a:ln>
            <a:noFill/>
          </a:ln>
        </p:spPr>
      </p:pic>
      <p:pic>
        <p:nvPicPr>
          <p:cNvPr id="156" name="Google Shape;156;p26"/>
          <p:cNvPicPr preferRelativeResize="0"/>
          <p:nvPr/>
        </p:nvPicPr>
        <p:blipFill>
          <a:blip r:embed="rId4">
            <a:alphaModFix/>
          </a:blip>
          <a:stretch>
            <a:fillRect/>
          </a:stretch>
        </p:blipFill>
        <p:spPr>
          <a:xfrm>
            <a:off x="521763" y="1048875"/>
            <a:ext cx="3885726" cy="2914299"/>
          </a:xfrm>
          <a:prstGeom prst="rect">
            <a:avLst/>
          </a:prstGeom>
          <a:noFill/>
          <a:ln>
            <a:noFill/>
          </a:ln>
        </p:spPr>
      </p:pic>
      <p:sp>
        <p:nvSpPr>
          <p:cNvPr id="157" name="Google Shape;157;p26"/>
          <p:cNvSpPr txBox="1"/>
          <p:nvPr/>
        </p:nvSpPr>
        <p:spPr>
          <a:xfrm>
            <a:off x="2185313" y="3700350"/>
            <a:ext cx="558600" cy="3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t>RF</a:t>
            </a:r>
            <a:endParaRPr/>
          </a:p>
        </p:txBody>
      </p:sp>
      <p:sp>
        <p:nvSpPr>
          <p:cNvPr id="158" name="Google Shape;158;p26"/>
          <p:cNvSpPr txBox="1"/>
          <p:nvPr/>
        </p:nvSpPr>
        <p:spPr>
          <a:xfrm>
            <a:off x="6269163" y="3700350"/>
            <a:ext cx="491400" cy="3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t>ET</a:t>
            </a:r>
            <a:endParaRPr/>
          </a:p>
        </p:txBody>
      </p:sp>
      <p:sp>
        <p:nvSpPr>
          <p:cNvPr id="159" name="Google Shape;159;p26"/>
          <p:cNvSpPr txBox="1"/>
          <p:nvPr/>
        </p:nvSpPr>
        <p:spPr>
          <a:xfrm>
            <a:off x="231450" y="4166450"/>
            <a:ext cx="8681100" cy="792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fr" u="sng"/>
              <a:t>Remarque:</a:t>
            </a:r>
            <a:r>
              <a:rPr lang="fr"/>
              <a:t> </a:t>
            </a:r>
            <a:r>
              <a:rPr lang="fr"/>
              <a:t>Dû</a:t>
            </a:r>
            <a:r>
              <a:rPr lang="fr"/>
              <a:t> au coût croissant du nombre d’arc, une région qui ne trouve pas de TP(vrai positif) créer un “fossé” et diminue les gains pour les prochains TP, ce qui fait que la seconde “colline” sera plus basse que la première. Ce qui est étrange c’est que le fossé existe chez les arcs de (très) haute confiance. </a:t>
            </a:r>
            <a:endParaRPr/>
          </a:p>
        </p:txBody>
      </p:sp>
      <p:sp>
        <p:nvSpPr>
          <p:cNvPr id="160" name="Google Shape;160;p26"/>
          <p:cNvSpPr/>
          <p:nvPr/>
        </p:nvSpPr>
        <p:spPr>
          <a:xfrm>
            <a:off x="889525" y="1305600"/>
            <a:ext cx="1155000" cy="2137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6"/>
          <p:cNvSpPr/>
          <p:nvPr/>
        </p:nvSpPr>
        <p:spPr>
          <a:xfrm>
            <a:off x="4935475" y="1305600"/>
            <a:ext cx="322800" cy="2137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Pénalité</a:t>
            </a:r>
            <a:endParaRPr/>
          </a:p>
        </p:txBody>
      </p:sp>
      <p:pic>
        <p:nvPicPr>
          <p:cNvPr id="167" name="Google Shape;167;p27"/>
          <p:cNvPicPr preferRelativeResize="0"/>
          <p:nvPr/>
        </p:nvPicPr>
        <p:blipFill>
          <a:blip r:embed="rId3">
            <a:alphaModFix/>
          </a:blip>
          <a:stretch>
            <a:fillRect/>
          </a:stretch>
        </p:blipFill>
        <p:spPr>
          <a:xfrm>
            <a:off x="2433638" y="3412513"/>
            <a:ext cx="4276725" cy="523875"/>
          </a:xfrm>
          <a:prstGeom prst="rect">
            <a:avLst/>
          </a:prstGeom>
          <a:noFill/>
          <a:ln>
            <a:noFill/>
          </a:ln>
        </p:spPr>
      </p:pic>
      <p:sp>
        <p:nvSpPr>
          <p:cNvPr id="168" name="Google Shape;168;p27"/>
          <p:cNvSpPr txBox="1"/>
          <p:nvPr/>
        </p:nvSpPr>
        <p:spPr>
          <a:xfrm>
            <a:off x="361500" y="1206325"/>
            <a:ext cx="8421000" cy="1894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fr"/>
              <a:t>Nous partons du principe que l’algorithme GENIE3 ne fait pas n’importe quoi, et que le “fossé” est causé par un manque d’information expérimentale (utilisé pour détecter un TP). </a:t>
            </a:r>
            <a:endParaRPr/>
          </a:p>
          <a:p>
            <a:pPr indent="0" lvl="0" marL="0" rtl="0" algn="l">
              <a:spcBef>
                <a:spcPts val="0"/>
              </a:spcBef>
              <a:spcAft>
                <a:spcPts val="0"/>
              </a:spcAft>
              <a:buNone/>
            </a:pPr>
            <a:r>
              <a:rPr lang="fr"/>
              <a:t>Nous chercherons donc à accéder à la seconde “colline”. </a:t>
            </a:r>
            <a:endParaRPr/>
          </a:p>
          <a:p>
            <a:pPr indent="0" lvl="0" marL="0" rtl="0" algn="l">
              <a:spcBef>
                <a:spcPts val="0"/>
              </a:spcBef>
              <a:spcAft>
                <a:spcPts val="0"/>
              </a:spcAft>
              <a:buNone/>
            </a:pPr>
            <a:r>
              <a:rPr lang="fr"/>
              <a:t>Pour cela nous estimons le nombre d’arc du réseau en utilisant les données expérimentales présentes puis nous calculons l’écart entre le nombre d’arc estimé et le nombre d’arc du réseau prédit.</a:t>
            </a:r>
            <a:endParaRPr/>
          </a:p>
          <a:p>
            <a:pPr indent="0" lvl="0" marL="0" rtl="0" algn="l">
              <a:spcBef>
                <a:spcPts val="0"/>
              </a:spcBef>
              <a:spcAft>
                <a:spcPts val="0"/>
              </a:spcAft>
              <a:buNone/>
            </a:pPr>
            <a:r>
              <a:t/>
            </a:r>
            <a:endParaRPr/>
          </a:p>
          <a:p>
            <a:pPr indent="0" lvl="0" marL="0" rtl="0" algn="l">
              <a:spcBef>
                <a:spcPts val="0"/>
              </a:spcBef>
              <a:spcAft>
                <a:spcPts val="0"/>
              </a:spcAft>
              <a:buNone/>
            </a:pPr>
            <a:r>
              <a:rPr lang="fr"/>
              <a:t>Ensuite nous l’incoporons dans la fonction de scoring pour optimiser nos réseaux. </a:t>
            </a:r>
            <a:endParaRPr/>
          </a:p>
          <a:p>
            <a:pPr indent="0" lvl="0" marL="0" rtl="0" algn="l">
              <a:spcBef>
                <a:spcPts val="0"/>
              </a:spcBef>
              <a:spcAft>
                <a:spcPts val="0"/>
              </a:spcAft>
              <a:buNone/>
            </a:pPr>
            <a:r>
              <a:rPr lang="fr"/>
              <a:t>Plus l’écart est grand plus la pénalité est grande. </a:t>
            </a:r>
            <a:endParaRPr/>
          </a:p>
        </p:txBody>
      </p:sp>
      <p:sp>
        <p:nvSpPr>
          <p:cNvPr id="169" name="Google Shape;169;p27"/>
          <p:cNvSpPr txBox="1"/>
          <p:nvPr/>
        </p:nvSpPr>
        <p:spPr>
          <a:xfrm>
            <a:off x="361500" y="4514275"/>
            <a:ext cx="7657800" cy="441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fr" u="sng"/>
              <a:t>Remarque:</a:t>
            </a:r>
            <a:r>
              <a:rPr lang="fr"/>
              <a:t> Lors du choix entre plusieurs réseaux, le score de fold enrichment garde la priorité.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3" name="Shape 173"/>
        <p:cNvGrpSpPr/>
        <p:nvPr/>
      </p:nvGrpSpPr>
      <p:grpSpPr>
        <a:xfrm>
          <a:off x="0" y="0"/>
          <a:ext cx="0" cy="0"/>
          <a:chOff x="0" y="0"/>
          <a:chExt cx="0" cy="0"/>
        </a:xfrm>
      </p:grpSpPr>
      <p:sp>
        <p:nvSpPr>
          <p:cNvPr id="174" name="Google Shape;174;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Pénalité</a:t>
            </a:r>
            <a:r>
              <a:rPr lang="fr"/>
              <a:t>, GENIE3 Extra Trees</a:t>
            </a:r>
            <a:endParaRPr/>
          </a:p>
        </p:txBody>
      </p:sp>
      <p:sp>
        <p:nvSpPr>
          <p:cNvPr id="175" name="Google Shape;175;p28"/>
          <p:cNvSpPr txBox="1"/>
          <p:nvPr/>
        </p:nvSpPr>
        <p:spPr>
          <a:xfrm>
            <a:off x="236825" y="1902000"/>
            <a:ext cx="1961400" cy="27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50">
                <a:solidFill>
                  <a:schemeClr val="dk1"/>
                </a:solidFill>
              </a:rPr>
              <a:t>0 autorégulateur</a:t>
            </a:r>
            <a:endParaRPr sz="1150">
              <a:solidFill>
                <a:schemeClr val="dk1"/>
              </a:solidFill>
            </a:endParaRPr>
          </a:p>
          <a:p>
            <a:pPr indent="0" lvl="0" marL="0" rtl="0" algn="l">
              <a:spcBef>
                <a:spcPts val="0"/>
              </a:spcBef>
              <a:spcAft>
                <a:spcPts val="0"/>
              </a:spcAft>
              <a:buNone/>
            </a:pPr>
            <a:r>
              <a:rPr lang="fr" sz="1150">
                <a:solidFill>
                  <a:srgbClr val="4A86E8"/>
                </a:solidFill>
              </a:rPr>
              <a:t>115</a:t>
            </a:r>
            <a:r>
              <a:rPr lang="fr" sz="1150">
                <a:solidFill>
                  <a:schemeClr val="dk1"/>
                </a:solidFill>
              </a:rPr>
              <a:t> arcs</a:t>
            </a:r>
            <a:endParaRPr sz="1150">
              <a:solidFill>
                <a:schemeClr val="dk1"/>
              </a:solidFill>
            </a:endParaRPr>
          </a:p>
          <a:p>
            <a:pPr indent="0" lvl="0" marL="0" rtl="0" algn="l">
              <a:spcBef>
                <a:spcPts val="0"/>
              </a:spcBef>
              <a:spcAft>
                <a:spcPts val="0"/>
              </a:spcAft>
              <a:buNone/>
            </a:pPr>
            <a:r>
              <a:rPr lang="fr" sz="1150">
                <a:solidFill>
                  <a:schemeClr val="dk1"/>
                </a:solidFill>
              </a:rPr>
              <a:t>fold enrichment: </a:t>
            </a:r>
            <a:r>
              <a:rPr lang="fr" sz="1150">
                <a:solidFill>
                  <a:srgbClr val="FF0000"/>
                </a:solidFill>
              </a:rPr>
              <a:t>1.309</a:t>
            </a:r>
            <a:endParaRPr sz="1150">
              <a:solidFill>
                <a:srgbClr val="FF0000"/>
              </a:solidFill>
            </a:endParaRPr>
          </a:p>
          <a:p>
            <a:pPr indent="0" lvl="0" marL="0" rtl="0" algn="l">
              <a:spcBef>
                <a:spcPts val="0"/>
              </a:spcBef>
              <a:spcAft>
                <a:spcPts val="0"/>
              </a:spcAft>
              <a:buNone/>
            </a:pPr>
            <a:r>
              <a:rPr lang="fr" sz="1150">
                <a:solidFill>
                  <a:schemeClr val="dk1"/>
                </a:solidFill>
              </a:rPr>
              <a:t>penalty score: </a:t>
            </a:r>
            <a:r>
              <a:rPr lang="fr" sz="1150">
                <a:solidFill>
                  <a:srgbClr val="0000FF"/>
                </a:solidFill>
              </a:rPr>
              <a:t>122.83</a:t>
            </a:r>
            <a:endParaRPr sz="1150">
              <a:solidFill>
                <a:srgbClr val="0000FF"/>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rPr lang="fr" sz="1150">
                <a:solidFill>
                  <a:schemeClr val="dk1"/>
                </a:solidFill>
              </a:rPr>
              <a:t>#arcs estimé = </a:t>
            </a:r>
            <a:r>
              <a:rPr lang="fr" sz="1150">
                <a:solidFill>
                  <a:srgbClr val="4A86E8"/>
                </a:solidFill>
              </a:rPr>
              <a:t>114.53</a:t>
            </a:r>
            <a:endParaRPr sz="1150">
              <a:solidFill>
                <a:srgbClr val="4A86E8"/>
              </a:solidFill>
            </a:endParaRPr>
          </a:p>
        </p:txBody>
      </p:sp>
      <p:pic>
        <p:nvPicPr>
          <p:cNvPr id="176" name="Google Shape;176;p28"/>
          <p:cNvPicPr preferRelativeResize="0"/>
          <p:nvPr/>
        </p:nvPicPr>
        <p:blipFill>
          <a:blip r:embed="rId3">
            <a:alphaModFix/>
          </a:blip>
          <a:stretch>
            <a:fillRect/>
          </a:stretch>
        </p:blipFill>
        <p:spPr>
          <a:xfrm>
            <a:off x="2350625" y="1170125"/>
            <a:ext cx="5094633" cy="3820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Pénalité</a:t>
            </a:r>
            <a:r>
              <a:rPr lang="fr"/>
              <a:t>, GENIE3 Random Forest</a:t>
            </a:r>
            <a:endParaRPr/>
          </a:p>
        </p:txBody>
      </p:sp>
      <p:sp>
        <p:nvSpPr>
          <p:cNvPr id="182" name="Google Shape;182;p29"/>
          <p:cNvSpPr txBox="1"/>
          <p:nvPr/>
        </p:nvSpPr>
        <p:spPr>
          <a:xfrm>
            <a:off x="236825" y="1902000"/>
            <a:ext cx="1961400" cy="27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50">
                <a:solidFill>
                  <a:schemeClr val="dk1"/>
                </a:solidFill>
              </a:rPr>
              <a:t>0 autorégulateur</a:t>
            </a:r>
            <a:endParaRPr sz="1150">
              <a:solidFill>
                <a:schemeClr val="dk1"/>
              </a:solidFill>
            </a:endParaRPr>
          </a:p>
          <a:p>
            <a:pPr indent="0" lvl="0" marL="0" rtl="0" algn="l">
              <a:spcBef>
                <a:spcPts val="0"/>
              </a:spcBef>
              <a:spcAft>
                <a:spcPts val="0"/>
              </a:spcAft>
              <a:buNone/>
            </a:pPr>
            <a:r>
              <a:rPr lang="fr" sz="1150">
                <a:solidFill>
                  <a:srgbClr val="4A86E8"/>
                </a:solidFill>
              </a:rPr>
              <a:t>115</a:t>
            </a:r>
            <a:r>
              <a:rPr lang="fr" sz="1150">
                <a:solidFill>
                  <a:schemeClr val="dk1"/>
                </a:solidFill>
              </a:rPr>
              <a:t> arcs</a:t>
            </a:r>
            <a:endParaRPr sz="1150">
              <a:solidFill>
                <a:schemeClr val="dk1"/>
              </a:solidFill>
            </a:endParaRPr>
          </a:p>
          <a:p>
            <a:pPr indent="0" lvl="0" marL="0" rtl="0" algn="l">
              <a:spcBef>
                <a:spcPts val="0"/>
              </a:spcBef>
              <a:spcAft>
                <a:spcPts val="0"/>
              </a:spcAft>
              <a:buNone/>
            </a:pPr>
            <a:r>
              <a:rPr lang="fr" sz="1150">
                <a:solidFill>
                  <a:schemeClr val="dk1"/>
                </a:solidFill>
              </a:rPr>
              <a:t>fold enrichment: </a:t>
            </a:r>
            <a:r>
              <a:rPr lang="fr" sz="1150">
                <a:solidFill>
                  <a:srgbClr val="FF0000"/>
                </a:solidFill>
              </a:rPr>
              <a:t>1.440</a:t>
            </a:r>
            <a:endParaRPr sz="1150">
              <a:solidFill>
                <a:srgbClr val="FF0000"/>
              </a:solidFill>
            </a:endParaRPr>
          </a:p>
          <a:p>
            <a:pPr indent="0" lvl="0" marL="0" rtl="0" algn="l">
              <a:spcBef>
                <a:spcPts val="0"/>
              </a:spcBef>
              <a:spcAft>
                <a:spcPts val="0"/>
              </a:spcAft>
              <a:buNone/>
            </a:pPr>
            <a:r>
              <a:rPr lang="fr" sz="1150">
                <a:solidFill>
                  <a:schemeClr val="dk1"/>
                </a:solidFill>
              </a:rPr>
              <a:t>penalty score: </a:t>
            </a:r>
            <a:r>
              <a:rPr lang="fr" sz="1150">
                <a:solidFill>
                  <a:srgbClr val="0000FF"/>
                </a:solidFill>
              </a:rPr>
              <a:t>135.12</a:t>
            </a:r>
            <a:endParaRPr sz="1150">
              <a:solidFill>
                <a:srgbClr val="0000FF"/>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rPr lang="fr" sz="1150">
                <a:solidFill>
                  <a:schemeClr val="dk1"/>
                </a:solidFill>
              </a:rPr>
              <a:t>#arcs estimé = </a:t>
            </a:r>
            <a:r>
              <a:rPr lang="fr" sz="1150">
                <a:solidFill>
                  <a:srgbClr val="4A86E8"/>
                </a:solidFill>
              </a:rPr>
              <a:t>114.53</a:t>
            </a:r>
            <a:endParaRPr sz="1150">
              <a:solidFill>
                <a:srgbClr val="4A86E8"/>
              </a:solidFill>
            </a:endParaRPr>
          </a:p>
        </p:txBody>
      </p:sp>
      <p:pic>
        <p:nvPicPr>
          <p:cNvPr id="183" name="Google Shape;183;p29"/>
          <p:cNvPicPr preferRelativeResize="0"/>
          <p:nvPr/>
        </p:nvPicPr>
        <p:blipFill>
          <a:blip r:embed="rId3">
            <a:alphaModFix/>
          </a:blip>
          <a:stretch>
            <a:fillRect/>
          </a:stretch>
        </p:blipFill>
        <p:spPr>
          <a:xfrm>
            <a:off x="2350625" y="1170125"/>
            <a:ext cx="5094633" cy="3820975"/>
          </a:xfrm>
          <a:prstGeom prst="rect">
            <a:avLst/>
          </a:prstGeom>
          <a:noFill/>
          <a:ln>
            <a:noFill/>
          </a:ln>
        </p:spPr>
      </p:pic>
      <p:sp>
        <p:nvSpPr>
          <p:cNvPr id="184" name="Google Shape;184;p29"/>
          <p:cNvSpPr txBox="1"/>
          <p:nvPr/>
        </p:nvSpPr>
        <p:spPr>
          <a:xfrm>
            <a:off x="6860475" y="340425"/>
            <a:ext cx="2005500" cy="507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fr" sz="1100"/>
              <a:t>Meilleur en tout point à Extra Trees selon nos métriques. </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Score de pénalité en fonction du #arc</a:t>
            </a:r>
            <a:endParaRPr/>
          </a:p>
        </p:txBody>
      </p:sp>
      <p:sp>
        <p:nvSpPr>
          <p:cNvPr id="190" name="Google Shape;190;p30"/>
          <p:cNvSpPr txBox="1"/>
          <p:nvPr/>
        </p:nvSpPr>
        <p:spPr>
          <a:xfrm>
            <a:off x="2365625" y="3658225"/>
            <a:ext cx="558600" cy="3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t>RF</a:t>
            </a:r>
            <a:endParaRPr/>
          </a:p>
        </p:txBody>
      </p:sp>
      <p:sp>
        <p:nvSpPr>
          <p:cNvPr id="191" name="Google Shape;191;p30"/>
          <p:cNvSpPr txBox="1"/>
          <p:nvPr/>
        </p:nvSpPr>
        <p:spPr>
          <a:xfrm>
            <a:off x="6279450" y="3658225"/>
            <a:ext cx="491400" cy="3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t>ET</a:t>
            </a:r>
            <a:endParaRPr/>
          </a:p>
        </p:txBody>
      </p:sp>
      <p:pic>
        <p:nvPicPr>
          <p:cNvPr id="192" name="Google Shape;192;p30"/>
          <p:cNvPicPr preferRelativeResize="0"/>
          <p:nvPr/>
        </p:nvPicPr>
        <p:blipFill>
          <a:blip r:embed="rId3">
            <a:alphaModFix/>
          </a:blip>
          <a:stretch>
            <a:fillRect/>
          </a:stretch>
        </p:blipFill>
        <p:spPr>
          <a:xfrm>
            <a:off x="4731300" y="1017725"/>
            <a:ext cx="3587700" cy="2690768"/>
          </a:xfrm>
          <a:prstGeom prst="rect">
            <a:avLst/>
          </a:prstGeom>
          <a:noFill/>
          <a:ln>
            <a:noFill/>
          </a:ln>
        </p:spPr>
      </p:pic>
      <p:pic>
        <p:nvPicPr>
          <p:cNvPr id="193" name="Google Shape;193;p30"/>
          <p:cNvPicPr preferRelativeResize="0"/>
          <p:nvPr/>
        </p:nvPicPr>
        <p:blipFill>
          <a:blip r:embed="rId4">
            <a:alphaModFix/>
          </a:blip>
          <a:stretch>
            <a:fillRect/>
          </a:stretch>
        </p:blipFill>
        <p:spPr>
          <a:xfrm>
            <a:off x="851075" y="1017725"/>
            <a:ext cx="3587700" cy="2690775"/>
          </a:xfrm>
          <a:prstGeom prst="rect">
            <a:avLst/>
          </a:prstGeom>
          <a:noFill/>
          <a:ln>
            <a:noFill/>
          </a:ln>
        </p:spPr>
      </p:pic>
      <p:sp>
        <p:nvSpPr>
          <p:cNvPr id="194" name="Google Shape;194;p30"/>
          <p:cNvSpPr txBox="1"/>
          <p:nvPr/>
        </p:nvSpPr>
        <p:spPr>
          <a:xfrm>
            <a:off x="231450" y="4247875"/>
            <a:ext cx="8681100" cy="572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fr" u="sng"/>
              <a:t>Remarque:</a:t>
            </a:r>
            <a:r>
              <a:rPr lang="fr"/>
              <a:t> </a:t>
            </a:r>
            <a:r>
              <a:rPr lang="fr" sz="1200"/>
              <a:t>Biais énorme sur le nombre d’arc estimé, l’optimum est exactement au nombre d’arc estimé (possible mais peu probable). Un peu l’inverse du premier problème. </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Réseau référence, sans autorégulation</a:t>
            </a:r>
            <a:endParaRPr/>
          </a:p>
        </p:txBody>
      </p:sp>
      <p:pic>
        <p:nvPicPr>
          <p:cNvPr id="200" name="Google Shape;200;p31"/>
          <p:cNvPicPr preferRelativeResize="0"/>
          <p:nvPr/>
        </p:nvPicPr>
        <p:blipFill>
          <a:blip r:embed="rId3">
            <a:alphaModFix/>
          </a:blip>
          <a:stretch>
            <a:fillRect/>
          </a:stretch>
        </p:blipFill>
        <p:spPr>
          <a:xfrm>
            <a:off x="1861950" y="1017725"/>
            <a:ext cx="5094633" cy="3820975"/>
          </a:xfrm>
          <a:prstGeom prst="rect">
            <a:avLst/>
          </a:prstGeom>
          <a:noFill/>
          <a:ln>
            <a:noFill/>
          </a:ln>
        </p:spPr>
      </p:pic>
      <p:pic>
        <p:nvPicPr>
          <p:cNvPr id="201" name="Google Shape;201;p31"/>
          <p:cNvPicPr preferRelativeResize="0"/>
          <p:nvPr/>
        </p:nvPicPr>
        <p:blipFill>
          <a:blip r:embed="rId4">
            <a:alphaModFix/>
          </a:blip>
          <a:stretch>
            <a:fillRect/>
          </a:stretch>
        </p:blipFill>
        <p:spPr>
          <a:xfrm>
            <a:off x="2024688" y="1017731"/>
            <a:ext cx="5094624" cy="3820968"/>
          </a:xfrm>
          <a:prstGeom prst="rect">
            <a:avLst/>
          </a:prstGeom>
          <a:noFill/>
          <a:ln>
            <a:noFill/>
          </a:ln>
        </p:spPr>
      </p:pic>
      <p:sp>
        <p:nvSpPr>
          <p:cNvPr id="202" name="Google Shape;202;p31"/>
          <p:cNvSpPr txBox="1"/>
          <p:nvPr/>
        </p:nvSpPr>
        <p:spPr>
          <a:xfrm>
            <a:off x="362650" y="1702175"/>
            <a:ext cx="1635600" cy="27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50">
                <a:solidFill>
                  <a:schemeClr val="dk1"/>
                </a:solidFill>
              </a:rPr>
              <a:t>32 noeuds</a:t>
            </a:r>
            <a:endParaRPr sz="1150">
              <a:solidFill>
                <a:schemeClr val="dk1"/>
              </a:solidFill>
            </a:endParaRPr>
          </a:p>
          <a:p>
            <a:pPr indent="0" lvl="0" marL="0" rtl="0" algn="l">
              <a:spcBef>
                <a:spcPts val="0"/>
              </a:spcBef>
              <a:spcAft>
                <a:spcPts val="0"/>
              </a:spcAft>
              <a:buNone/>
            </a:pPr>
            <a:r>
              <a:rPr lang="fr" sz="1150">
                <a:solidFill>
                  <a:schemeClr val="dk1"/>
                </a:solidFill>
              </a:rPr>
              <a:t>56</a:t>
            </a:r>
            <a:r>
              <a:rPr lang="fr" sz="1150">
                <a:solidFill>
                  <a:schemeClr val="dk1"/>
                </a:solidFill>
              </a:rPr>
              <a:t> arcs </a:t>
            </a:r>
            <a:endParaRPr sz="1150">
              <a:solidFill>
                <a:schemeClr val="dk1"/>
              </a:solidFill>
            </a:endParaRPr>
          </a:p>
          <a:p>
            <a:pPr indent="0" lvl="0" marL="0" rtl="0" algn="l">
              <a:spcBef>
                <a:spcPts val="0"/>
              </a:spcBef>
              <a:spcAft>
                <a:spcPts val="0"/>
              </a:spcAft>
              <a:buNone/>
            </a:pPr>
            <a:r>
              <a:rPr lang="fr" sz="1150">
                <a:solidFill>
                  <a:schemeClr val="dk1"/>
                </a:solidFill>
              </a:rPr>
              <a:t>0 autorégulations</a:t>
            </a:r>
            <a:endParaRPr sz="1150">
              <a:solidFill>
                <a:schemeClr val="dk1"/>
              </a:solidFill>
            </a:endParaRPr>
          </a:p>
          <a:p>
            <a:pPr indent="0" lvl="0" marL="0" rtl="0" algn="l">
              <a:spcBef>
                <a:spcPts val="0"/>
              </a:spcBef>
              <a:spcAft>
                <a:spcPts val="0"/>
              </a:spcAft>
              <a:buNone/>
            </a:pPr>
            <a:r>
              <a:rPr lang="fr" sz="1150">
                <a:solidFill>
                  <a:schemeClr val="dk1"/>
                </a:solidFill>
              </a:rPr>
              <a:t>13 noeuds inactifs</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rPr lang="fr" sz="1150">
                <a:solidFill>
                  <a:schemeClr val="dk1"/>
                </a:solidFill>
              </a:rPr>
              <a:t>#arc moyens = 2.947</a:t>
            </a:r>
            <a:endParaRPr sz="1150">
              <a:solidFill>
                <a:schemeClr val="dk1"/>
              </a:solidFill>
            </a:endParaRPr>
          </a:p>
          <a:p>
            <a:pPr indent="0" lvl="0" marL="0" rtl="0" algn="l">
              <a:spcBef>
                <a:spcPts val="0"/>
              </a:spcBef>
              <a:spcAft>
                <a:spcPts val="0"/>
              </a:spcAft>
              <a:buNone/>
            </a:pPr>
            <a:r>
              <a:rPr lang="fr" sz="1150">
                <a:solidFill>
                  <a:schemeClr val="dk1"/>
                </a:solidFill>
              </a:rPr>
              <a:t>#arcs estimé = 94.315</a:t>
            </a:r>
            <a:endParaRPr sz="115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6" name="Shape 206"/>
        <p:cNvGrpSpPr/>
        <p:nvPr/>
      </p:nvGrpSpPr>
      <p:grpSpPr>
        <a:xfrm>
          <a:off x="0" y="0"/>
          <a:ext cx="0" cy="0"/>
          <a:chOff x="0" y="0"/>
          <a:chExt cx="0" cy="0"/>
        </a:xfrm>
      </p:grpSpPr>
      <p:sp>
        <p:nvSpPr>
          <p:cNvPr id="207" name="Google Shape;207;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GENIE3 Extra Trees</a:t>
            </a:r>
            <a:endParaRPr/>
          </a:p>
        </p:txBody>
      </p:sp>
      <p:sp>
        <p:nvSpPr>
          <p:cNvPr id="208" name="Google Shape;208;p32"/>
          <p:cNvSpPr txBox="1"/>
          <p:nvPr/>
        </p:nvSpPr>
        <p:spPr>
          <a:xfrm>
            <a:off x="236825" y="1902000"/>
            <a:ext cx="1961400" cy="27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50">
                <a:solidFill>
                  <a:schemeClr val="dk1"/>
                </a:solidFill>
              </a:rPr>
              <a:t>0 autorégulateur</a:t>
            </a:r>
            <a:endParaRPr sz="1150">
              <a:solidFill>
                <a:schemeClr val="dk1"/>
              </a:solidFill>
            </a:endParaRPr>
          </a:p>
          <a:p>
            <a:pPr indent="0" lvl="0" marL="0" rtl="0" algn="l">
              <a:spcBef>
                <a:spcPts val="0"/>
              </a:spcBef>
              <a:spcAft>
                <a:spcPts val="0"/>
              </a:spcAft>
              <a:buNone/>
            </a:pPr>
            <a:r>
              <a:rPr lang="fr" sz="1150">
                <a:solidFill>
                  <a:srgbClr val="4A86E8"/>
                </a:solidFill>
              </a:rPr>
              <a:t>97</a:t>
            </a:r>
            <a:r>
              <a:rPr lang="fr" sz="1150">
                <a:solidFill>
                  <a:schemeClr val="dk1"/>
                </a:solidFill>
              </a:rPr>
              <a:t> arcs</a:t>
            </a:r>
            <a:endParaRPr sz="1150">
              <a:solidFill>
                <a:schemeClr val="dk1"/>
              </a:solidFill>
            </a:endParaRPr>
          </a:p>
          <a:p>
            <a:pPr indent="0" lvl="0" marL="0" rtl="0" algn="l">
              <a:spcBef>
                <a:spcPts val="0"/>
              </a:spcBef>
              <a:spcAft>
                <a:spcPts val="0"/>
              </a:spcAft>
              <a:buNone/>
            </a:pPr>
            <a:r>
              <a:rPr lang="fr" sz="1150">
                <a:solidFill>
                  <a:schemeClr val="dk1"/>
                </a:solidFill>
              </a:rPr>
              <a:t>fold enrichment: </a:t>
            </a:r>
            <a:r>
              <a:rPr lang="fr" sz="1150">
                <a:solidFill>
                  <a:srgbClr val="FF0000"/>
                </a:solidFill>
              </a:rPr>
              <a:t>1.441</a:t>
            </a:r>
            <a:endParaRPr sz="1150">
              <a:solidFill>
                <a:srgbClr val="FF0000"/>
              </a:solidFill>
            </a:endParaRPr>
          </a:p>
          <a:p>
            <a:pPr indent="0" lvl="0" marL="0" rtl="0" algn="l">
              <a:spcBef>
                <a:spcPts val="0"/>
              </a:spcBef>
              <a:spcAft>
                <a:spcPts val="0"/>
              </a:spcAft>
              <a:buNone/>
            </a:pPr>
            <a:r>
              <a:rPr lang="fr" sz="1150">
                <a:solidFill>
                  <a:schemeClr val="dk1"/>
                </a:solidFill>
              </a:rPr>
              <a:t>penalty score: </a:t>
            </a:r>
            <a:r>
              <a:rPr lang="fr" sz="1150">
                <a:solidFill>
                  <a:srgbClr val="0000FF"/>
                </a:solidFill>
              </a:rPr>
              <a:t>123.653</a:t>
            </a:r>
            <a:endParaRPr sz="1150">
              <a:solidFill>
                <a:srgbClr val="0000FF"/>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rPr lang="fr" sz="1150">
                <a:solidFill>
                  <a:schemeClr val="dk1"/>
                </a:solidFill>
              </a:rPr>
              <a:t>#arcs estimé = </a:t>
            </a:r>
            <a:r>
              <a:rPr lang="fr" sz="1150">
                <a:solidFill>
                  <a:srgbClr val="4A86E8"/>
                </a:solidFill>
              </a:rPr>
              <a:t>94.315</a:t>
            </a:r>
            <a:endParaRPr sz="1150">
              <a:solidFill>
                <a:srgbClr val="4A86E8"/>
              </a:solidFill>
            </a:endParaRPr>
          </a:p>
        </p:txBody>
      </p:sp>
      <p:pic>
        <p:nvPicPr>
          <p:cNvPr id="209" name="Google Shape;209;p32"/>
          <p:cNvPicPr preferRelativeResize="0"/>
          <p:nvPr/>
        </p:nvPicPr>
        <p:blipFill>
          <a:blip r:embed="rId3">
            <a:alphaModFix/>
          </a:blip>
          <a:stretch>
            <a:fillRect/>
          </a:stretch>
        </p:blipFill>
        <p:spPr>
          <a:xfrm>
            <a:off x="2350625" y="1170125"/>
            <a:ext cx="5094633" cy="3820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3" name="Shape 213"/>
        <p:cNvGrpSpPr/>
        <p:nvPr/>
      </p:nvGrpSpPr>
      <p:grpSpPr>
        <a:xfrm>
          <a:off x="0" y="0"/>
          <a:ext cx="0" cy="0"/>
          <a:chOff x="0" y="0"/>
          <a:chExt cx="0" cy="0"/>
        </a:xfrm>
      </p:grpSpPr>
      <p:sp>
        <p:nvSpPr>
          <p:cNvPr id="214" name="Google Shape;214;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a:t>GENIE3 Random Forest</a:t>
            </a:r>
            <a:endParaRPr/>
          </a:p>
        </p:txBody>
      </p:sp>
      <p:sp>
        <p:nvSpPr>
          <p:cNvPr id="215" name="Google Shape;215;p33"/>
          <p:cNvSpPr txBox="1"/>
          <p:nvPr/>
        </p:nvSpPr>
        <p:spPr>
          <a:xfrm>
            <a:off x="236825" y="1902000"/>
            <a:ext cx="1961400" cy="27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50">
                <a:solidFill>
                  <a:schemeClr val="dk1"/>
                </a:solidFill>
              </a:rPr>
              <a:t>0 autorégulateur</a:t>
            </a:r>
            <a:endParaRPr sz="1150">
              <a:solidFill>
                <a:schemeClr val="dk1"/>
              </a:solidFill>
            </a:endParaRPr>
          </a:p>
          <a:p>
            <a:pPr indent="0" lvl="0" marL="0" rtl="0" algn="l">
              <a:spcBef>
                <a:spcPts val="0"/>
              </a:spcBef>
              <a:spcAft>
                <a:spcPts val="0"/>
              </a:spcAft>
              <a:buNone/>
            </a:pPr>
            <a:r>
              <a:rPr lang="fr" sz="1150">
                <a:solidFill>
                  <a:srgbClr val="4A86E8"/>
                </a:solidFill>
              </a:rPr>
              <a:t>97</a:t>
            </a:r>
            <a:r>
              <a:rPr lang="fr" sz="1150">
                <a:solidFill>
                  <a:schemeClr val="dk1"/>
                </a:solidFill>
              </a:rPr>
              <a:t> arcs</a:t>
            </a:r>
            <a:endParaRPr sz="1150">
              <a:solidFill>
                <a:schemeClr val="dk1"/>
              </a:solidFill>
            </a:endParaRPr>
          </a:p>
          <a:p>
            <a:pPr indent="0" lvl="0" marL="0" rtl="0" algn="l">
              <a:spcBef>
                <a:spcPts val="0"/>
              </a:spcBef>
              <a:spcAft>
                <a:spcPts val="0"/>
              </a:spcAft>
              <a:buNone/>
            </a:pPr>
            <a:r>
              <a:rPr lang="fr" sz="1150">
                <a:solidFill>
                  <a:schemeClr val="dk1"/>
                </a:solidFill>
              </a:rPr>
              <a:t>fold enrichment: </a:t>
            </a:r>
            <a:r>
              <a:rPr lang="fr" sz="1150">
                <a:solidFill>
                  <a:srgbClr val="FF0000"/>
                </a:solidFill>
              </a:rPr>
              <a:t>1.602</a:t>
            </a:r>
            <a:endParaRPr sz="1150">
              <a:solidFill>
                <a:srgbClr val="FF0000"/>
              </a:solidFill>
            </a:endParaRPr>
          </a:p>
          <a:p>
            <a:pPr indent="0" lvl="0" marL="0" rtl="0" algn="l">
              <a:spcBef>
                <a:spcPts val="0"/>
              </a:spcBef>
              <a:spcAft>
                <a:spcPts val="0"/>
              </a:spcAft>
              <a:buNone/>
            </a:pPr>
            <a:r>
              <a:rPr lang="fr" sz="1150">
                <a:solidFill>
                  <a:schemeClr val="dk1"/>
                </a:solidFill>
              </a:rPr>
              <a:t>penalty score: </a:t>
            </a:r>
            <a:r>
              <a:rPr lang="fr" sz="1150">
                <a:solidFill>
                  <a:srgbClr val="0000FF"/>
                </a:solidFill>
              </a:rPr>
              <a:t>137.392</a:t>
            </a:r>
            <a:endParaRPr sz="1150">
              <a:solidFill>
                <a:srgbClr val="0000FF"/>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rPr lang="fr" sz="1150">
                <a:solidFill>
                  <a:schemeClr val="dk1"/>
                </a:solidFill>
              </a:rPr>
              <a:t>#arcs estimé = </a:t>
            </a:r>
            <a:r>
              <a:rPr lang="fr" sz="1150">
                <a:solidFill>
                  <a:srgbClr val="4A86E8"/>
                </a:solidFill>
              </a:rPr>
              <a:t>94.315</a:t>
            </a:r>
            <a:endParaRPr sz="1150">
              <a:solidFill>
                <a:srgbClr val="4A86E8"/>
              </a:solidFill>
            </a:endParaRPr>
          </a:p>
        </p:txBody>
      </p:sp>
      <p:pic>
        <p:nvPicPr>
          <p:cNvPr id="216" name="Google Shape;216;p33"/>
          <p:cNvPicPr preferRelativeResize="0"/>
          <p:nvPr/>
        </p:nvPicPr>
        <p:blipFill>
          <a:blip r:embed="rId3">
            <a:alphaModFix/>
          </a:blip>
          <a:stretch>
            <a:fillRect/>
          </a:stretch>
        </p:blipFill>
        <p:spPr>
          <a:xfrm>
            <a:off x="2350625" y="1170125"/>
            <a:ext cx="5094633" cy="3820975"/>
          </a:xfrm>
          <a:prstGeom prst="rect">
            <a:avLst/>
          </a:prstGeom>
          <a:noFill/>
          <a:ln>
            <a:noFill/>
          </a:ln>
        </p:spPr>
      </p:pic>
      <p:sp>
        <p:nvSpPr>
          <p:cNvPr id="217" name="Google Shape;217;p33"/>
          <p:cNvSpPr txBox="1"/>
          <p:nvPr/>
        </p:nvSpPr>
        <p:spPr>
          <a:xfrm>
            <a:off x="6860475" y="340425"/>
            <a:ext cx="2005500" cy="507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fr" sz="1100"/>
              <a:t>Meilleur en tout point à Extra Trees selon nos métriques. </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1" name="Shape 221"/>
        <p:cNvGrpSpPr/>
        <p:nvPr/>
      </p:nvGrpSpPr>
      <p:grpSpPr>
        <a:xfrm>
          <a:off x="0" y="0"/>
          <a:ext cx="0" cy="0"/>
          <a:chOff x="0" y="0"/>
          <a:chExt cx="0" cy="0"/>
        </a:xfrm>
      </p:grpSpPr>
      <p:sp>
        <p:nvSpPr>
          <p:cNvPr id="222" name="Google Shape;222;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a:t>PC (alpha: 0.1)</a:t>
            </a:r>
            <a:endParaRPr/>
          </a:p>
        </p:txBody>
      </p:sp>
      <p:sp>
        <p:nvSpPr>
          <p:cNvPr id="223" name="Google Shape;223;p34"/>
          <p:cNvSpPr txBox="1"/>
          <p:nvPr/>
        </p:nvSpPr>
        <p:spPr>
          <a:xfrm>
            <a:off x="236825" y="1902000"/>
            <a:ext cx="1961400" cy="27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50">
                <a:solidFill>
                  <a:schemeClr val="dk1"/>
                </a:solidFill>
              </a:rPr>
              <a:t>0 autorégulateur</a:t>
            </a:r>
            <a:endParaRPr sz="1150">
              <a:solidFill>
                <a:schemeClr val="dk1"/>
              </a:solidFill>
            </a:endParaRPr>
          </a:p>
          <a:p>
            <a:pPr indent="0" lvl="0" marL="0" rtl="0" algn="l">
              <a:spcBef>
                <a:spcPts val="0"/>
              </a:spcBef>
              <a:spcAft>
                <a:spcPts val="0"/>
              </a:spcAft>
              <a:buNone/>
            </a:pPr>
            <a:r>
              <a:rPr lang="fr" sz="1150">
                <a:solidFill>
                  <a:srgbClr val="4A86E8"/>
                </a:solidFill>
              </a:rPr>
              <a:t>97</a:t>
            </a:r>
            <a:r>
              <a:rPr lang="fr" sz="1150">
                <a:solidFill>
                  <a:schemeClr val="dk1"/>
                </a:solidFill>
              </a:rPr>
              <a:t> arcs</a:t>
            </a:r>
            <a:endParaRPr sz="1150">
              <a:solidFill>
                <a:schemeClr val="dk1"/>
              </a:solidFill>
            </a:endParaRPr>
          </a:p>
          <a:p>
            <a:pPr indent="0" lvl="0" marL="0" rtl="0" algn="l">
              <a:spcBef>
                <a:spcPts val="0"/>
              </a:spcBef>
              <a:spcAft>
                <a:spcPts val="0"/>
              </a:spcAft>
              <a:buNone/>
            </a:pPr>
            <a:r>
              <a:rPr lang="fr" sz="1150">
                <a:solidFill>
                  <a:schemeClr val="dk1"/>
                </a:solidFill>
              </a:rPr>
              <a:t>fold enrichment: </a:t>
            </a:r>
            <a:r>
              <a:rPr lang="fr" sz="1150">
                <a:solidFill>
                  <a:srgbClr val="FF0000"/>
                </a:solidFill>
              </a:rPr>
              <a:t>1.902</a:t>
            </a:r>
            <a:endParaRPr sz="1150">
              <a:solidFill>
                <a:srgbClr val="FF0000"/>
              </a:solidFill>
            </a:endParaRPr>
          </a:p>
          <a:p>
            <a:pPr indent="0" lvl="0" marL="0" rtl="0" algn="l">
              <a:spcBef>
                <a:spcPts val="0"/>
              </a:spcBef>
              <a:spcAft>
                <a:spcPts val="0"/>
              </a:spcAft>
              <a:buNone/>
            </a:pPr>
            <a:r>
              <a:rPr lang="fr" sz="1150">
                <a:solidFill>
                  <a:schemeClr val="dk1"/>
                </a:solidFill>
              </a:rPr>
              <a:t>penalty score: </a:t>
            </a:r>
            <a:r>
              <a:rPr lang="fr" sz="1150">
                <a:solidFill>
                  <a:srgbClr val="0000FF"/>
                </a:solidFill>
              </a:rPr>
              <a:t>122.2</a:t>
            </a:r>
            <a:endParaRPr sz="1150">
              <a:solidFill>
                <a:srgbClr val="0000FF"/>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rPr lang="fr" sz="1150">
                <a:solidFill>
                  <a:schemeClr val="dk1"/>
                </a:solidFill>
              </a:rPr>
              <a:t>#arcs estimé = </a:t>
            </a:r>
            <a:r>
              <a:rPr lang="fr" sz="1150">
                <a:solidFill>
                  <a:srgbClr val="4A86E8"/>
                </a:solidFill>
              </a:rPr>
              <a:t>94.315</a:t>
            </a:r>
            <a:endParaRPr sz="1150">
              <a:solidFill>
                <a:srgbClr val="4A86E8"/>
              </a:solidFill>
            </a:endParaRPr>
          </a:p>
        </p:txBody>
      </p:sp>
      <p:pic>
        <p:nvPicPr>
          <p:cNvPr id="224" name="Google Shape;224;p34"/>
          <p:cNvPicPr preferRelativeResize="0"/>
          <p:nvPr/>
        </p:nvPicPr>
        <p:blipFill>
          <a:blip r:embed="rId3">
            <a:alphaModFix/>
          </a:blip>
          <a:stretch>
            <a:fillRect/>
          </a:stretch>
        </p:blipFill>
        <p:spPr>
          <a:xfrm>
            <a:off x="2350625" y="1170125"/>
            <a:ext cx="5094633" cy="3820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8" name="Shape 228"/>
        <p:cNvGrpSpPr/>
        <p:nvPr/>
      </p:nvGrpSpPr>
      <p:grpSpPr>
        <a:xfrm>
          <a:off x="0" y="0"/>
          <a:ext cx="0" cy="0"/>
          <a:chOff x="0" y="0"/>
          <a:chExt cx="0" cy="0"/>
        </a:xfrm>
      </p:grpSpPr>
      <p:sp>
        <p:nvSpPr>
          <p:cNvPr id="229" name="Google Shape;229;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Remarques</a:t>
            </a:r>
            <a:endParaRPr/>
          </a:p>
        </p:txBody>
      </p:sp>
      <p:sp>
        <p:nvSpPr>
          <p:cNvPr id="230" name="Google Shape;230;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Pour PC, le résultat n’est pas si différent que lors de l’optimisation seulement sur Fold enrichment, point positif car il n’était pas sensé être affecté.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fr"/>
              <a:t>TOP 3:</a:t>
            </a:r>
            <a:endParaRPr/>
          </a:p>
          <a:p>
            <a:pPr indent="-342900" lvl="0" marL="457200" rtl="0" algn="l">
              <a:spcBef>
                <a:spcPts val="1600"/>
              </a:spcBef>
              <a:spcAft>
                <a:spcPts val="0"/>
              </a:spcAft>
              <a:buSzPts val="1800"/>
              <a:buAutoNum type="arabicPeriod"/>
            </a:pPr>
            <a:r>
              <a:rPr lang="fr"/>
              <a:t>PC (alpha=0.1), </a:t>
            </a:r>
            <a:r>
              <a:rPr lang="fr">
                <a:solidFill>
                  <a:srgbClr val="FF0000"/>
                </a:solidFill>
              </a:rPr>
              <a:t>1.902</a:t>
            </a:r>
            <a:endParaRPr/>
          </a:p>
          <a:p>
            <a:pPr indent="-342900" lvl="0" marL="457200" rtl="0" algn="l">
              <a:spcBef>
                <a:spcPts val="0"/>
              </a:spcBef>
              <a:spcAft>
                <a:spcPts val="0"/>
              </a:spcAft>
              <a:buSzPts val="1800"/>
              <a:buAutoNum type="arabicPeriod"/>
            </a:pPr>
            <a:r>
              <a:rPr lang="fr"/>
              <a:t>miic, </a:t>
            </a:r>
            <a:r>
              <a:rPr lang="fr">
                <a:solidFill>
                  <a:srgbClr val="FF0000"/>
                </a:solidFill>
              </a:rPr>
              <a:t>1.721</a:t>
            </a:r>
            <a:endParaRPr/>
          </a:p>
          <a:p>
            <a:pPr indent="-342900" lvl="0" marL="457200" rtl="0" algn="l">
              <a:spcBef>
                <a:spcPts val="0"/>
              </a:spcBef>
              <a:spcAft>
                <a:spcPts val="0"/>
              </a:spcAft>
              <a:buSzPts val="1800"/>
              <a:buAutoNum type="arabicPeriod"/>
            </a:pPr>
            <a:r>
              <a:rPr lang="fr"/>
              <a:t>GENIE3 (Random Forest), </a:t>
            </a:r>
            <a:r>
              <a:rPr lang="fr">
                <a:solidFill>
                  <a:srgbClr val="FF0000"/>
                </a:solidFill>
              </a:rPr>
              <a:t>1.602</a:t>
            </a:r>
            <a:endParaRPr/>
          </a:p>
          <a:p>
            <a:pPr indent="0" lvl="0" marL="0" rtl="0" algn="l">
              <a:spcBef>
                <a:spcPts val="160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4" name="Shape 234"/>
        <p:cNvGrpSpPr/>
        <p:nvPr/>
      </p:nvGrpSpPr>
      <p:grpSpPr>
        <a:xfrm>
          <a:off x="0" y="0"/>
          <a:ext cx="0" cy="0"/>
          <a:chOff x="0" y="0"/>
          <a:chExt cx="0" cy="0"/>
        </a:xfrm>
      </p:grpSpPr>
      <p:sp>
        <p:nvSpPr>
          <p:cNvPr id="235" name="Google Shape;235;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Conclusion</a:t>
            </a:r>
            <a:endParaRPr/>
          </a:p>
        </p:txBody>
      </p:sp>
      <p:sp>
        <p:nvSpPr>
          <p:cNvPr id="236" name="Google Shape;236;p36"/>
          <p:cNvSpPr txBox="1"/>
          <p:nvPr>
            <p:ph idx="1" type="body"/>
          </p:nvPr>
        </p:nvSpPr>
        <p:spPr>
          <a:xfrm>
            <a:off x="311700" y="11080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a:t>Les méthodes d’inférence constraint-based et feature importance sont les plus adaptées à cette tâche.</a:t>
            </a:r>
            <a:endParaRPr/>
          </a:p>
          <a:p>
            <a:pPr indent="0" lvl="0" marL="0" rtl="0" algn="l">
              <a:lnSpc>
                <a:spcPct val="115000"/>
              </a:lnSpc>
              <a:spcBef>
                <a:spcPts val="1600"/>
              </a:spcBef>
              <a:spcAft>
                <a:spcPts val="0"/>
              </a:spcAft>
              <a:buNone/>
            </a:pPr>
            <a:r>
              <a:rPr lang="fr"/>
              <a:t>Nous réussissons à générer des réseaux vraisemblables en utilisant des heuristiques pour réduire la dépendance aux données expérimentales. </a:t>
            </a:r>
            <a:endParaRPr/>
          </a:p>
          <a:p>
            <a:pPr indent="0" lvl="0" marL="457200" rtl="0" algn="l">
              <a:lnSpc>
                <a:spcPct val="115000"/>
              </a:lnSpc>
              <a:spcBef>
                <a:spcPts val="1600"/>
              </a:spcBef>
              <a:spcAft>
                <a:spcPts val="0"/>
              </a:spcAft>
              <a:buNone/>
            </a:pPr>
            <a:r>
              <a:t/>
            </a:r>
            <a:endParaRPr/>
          </a:p>
          <a:p>
            <a:pPr indent="0" lvl="0" marL="0" rtl="0" algn="l">
              <a:lnSpc>
                <a:spcPct val="115000"/>
              </a:lnSpc>
              <a:spcBef>
                <a:spcPts val="1600"/>
              </a:spcBef>
              <a:spcAft>
                <a:spcPts val="1600"/>
              </a:spcAft>
              <a:buNone/>
            </a:pPr>
            <a:r>
              <a:rPr lang="fr"/>
              <a:t>Une augmentation de la quantité de données expérimentales disponibles nous permettra d’obtenir des résultats plus précis. Surtout pour les données histones, car nous n’en avons aucune.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0" name="Shape 240"/>
        <p:cNvGrpSpPr/>
        <p:nvPr/>
      </p:nvGrpSpPr>
      <p:grpSpPr>
        <a:xfrm>
          <a:off x="0" y="0"/>
          <a:ext cx="0" cy="0"/>
          <a:chOff x="0" y="0"/>
          <a:chExt cx="0" cy="0"/>
        </a:xfrm>
      </p:grpSpPr>
      <p:sp>
        <p:nvSpPr>
          <p:cNvPr id="241" name="Google Shape;241;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Questions en </a:t>
            </a:r>
            <a:r>
              <a:rPr lang="fr"/>
              <a:t>suspens</a:t>
            </a:r>
            <a:endParaRPr/>
          </a:p>
        </p:txBody>
      </p:sp>
      <p:sp>
        <p:nvSpPr>
          <p:cNvPr id="242" name="Google Shape;242;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fr"/>
              <a:t>Q</a:t>
            </a:r>
            <a:r>
              <a:rPr lang="fr"/>
              <a:t>uelle fiabilité peut-on accorder à ces résultats? </a:t>
            </a:r>
            <a:endParaRPr/>
          </a:p>
          <a:p>
            <a:pPr indent="-317500" lvl="1" marL="914400" rtl="0" algn="l">
              <a:spcBef>
                <a:spcPts val="0"/>
              </a:spcBef>
              <a:spcAft>
                <a:spcPts val="0"/>
              </a:spcAft>
              <a:buSzPts val="1400"/>
              <a:buChar char="➢"/>
            </a:pPr>
            <a:r>
              <a:rPr lang="fr"/>
              <a:t>PC: L</a:t>
            </a:r>
            <a:r>
              <a:rPr lang="fr"/>
              <a:t>es résultats en fonction de alpha sont désordonnés</a:t>
            </a:r>
            <a:endParaRPr/>
          </a:p>
          <a:p>
            <a:pPr indent="-317500" lvl="1" marL="914400" rtl="0" algn="l">
              <a:spcBef>
                <a:spcPts val="0"/>
              </a:spcBef>
              <a:spcAft>
                <a:spcPts val="0"/>
              </a:spcAft>
              <a:buSzPts val="1400"/>
              <a:buChar char="➢"/>
            </a:pPr>
            <a:r>
              <a:rPr lang="fr"/>
              <a:t>Le nombre d’arc estimé semble résoudre notre problème, et sur d’autres problèmes?</a:t>
            </a:r>
            <a:endParaRPr/>
          </a:p>
          <a:p>
            <a:pPr indent="0" lvl="0" marL="914400" rtl="0" algn="l">
              <a:spcBef>
                <a:spcPts val="1600"/>
              </a:spcBef>
              <a:spcAft>
                <a:spcPts val="0"/>
              </a:spcAft>
              <a:buNone/>
            </a:pPr>
            <a:r>
              <a:t/>
            </a:r>
            <a:endParaRPr/>
          </a:p>
          <a:p>
            <a:pPr indent="0" lvl="0" marL="0" rtl="0" algn="l">
              <a:spcBef>
                <a:spcPts val="1600"/>
              </a:spcBef>
              <a:spcAft>
                <a:spcPts val="1600"/>
              </a:spcAft>
              <a:buNone/>
            </a:pPr>
            <a:r>
              <a:rPr lang="fr"/>
              <a:t>Quelles probabilité que nos résultats obtenus soient dus simplement à la chance?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6" name="Shape 246"/>
        <p:cNvGrpSpPr/>
        <p:nvPr/>
      </p:nvGrpSpPr>
      <p:grpSpPr>
        <a:xfrm>
          <a:off x="0" y="0"/>
          <a:ext cx="0" cy="0"/>
          <a:chOff x="0" y="0"/>
          <a:chExt cx="0" cy="0"/>
        </a:xfrm>
      </p:grpSpPr>
      <p:sp>
        <p:nvSpPr>
          <p:cNvPr id="247" name="Google Shape;247;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Fold enrichment, PC et MMHC en fonction de alpha</a:t>
            </a:r>
            <a:endParaRPr/>
          </a:p>
        </p:txBody>
      </p:sp>
      <p:sp>
        <p:nvSpPr>
          <p:cNvPr id="248" name="Google Shape;248;p38"/>
          <p:cNvSpPr txBox="1"/>
          <p:nvPr/>
        </p:nvSpPr>
        <p:spPr>
          <a:xfrm>
            <a:off x="6129310" y="4087475"/>
            <a:ext cx="766200" cy="3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t>MMHC</a:t>
            </a:r>
            <a:endParaRPr/>
          </a:p>
        </p:txBody>
      </p:sp>
      <p:sp>
        <p:nvSpPr>
          <p:cNvPr id="249" name="Google Shape;249;p38"/>
          <p:cNvSpPr txBox="1"/>
          <p:nvPr/>
        </p:nvSpPr>
        <p:spPr>
          <a:xfrm>
            <a:off x="2397888" y="4087475"/>
            <a:ext cx="467400" cy="3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t>PC</a:t>
            </a:r>
            <a:endParaRPr/>
          </a:p>
        </p:txBody>
      </p:sp>
      <p:pic>
        <p:nvPicPr>
          <p:cNvPr id="250" name="Google Shape;250;p38"/>
          <p:cNvPicPr preferRelativeResize="0"/>
          <p:nvPr/>
        </p:nvPicPr>
        <p:blipFill>
          <a:blip r:embed="rId3">
            <a:alphaModFix/>
          </a:blip>
          <a:stretch>
            <a:fillRect/>
          </a:stretch>
        </p:blipFill>
        <p:spPr>
          <a:xfrm>
            <a:off x="827675" y="1381613"/>
            <a:ext cx="3607833" cy="2705875"/>
          </a:xfrm>
          <a:prstGeom prst="rect">
            <a:avLst/>
          </a:prstGeom>
          <a:noFill/>
          <a:ln>
            <a:noFill/>
          </a:ln>
        </p:spPr>
      </p:pic>
      <p:pic>
        <p:nvPicPr>
          <p:cNvPr id="251" name="Google Shape;251;p38"/>
          <p:cNvPicPr preferRelativeResize="0"/>
          <p:nvPr/>
        </p:nvPicPr>
        <p:blipFill>
          <a:blip r:embed="rId4">
            <a:alphaModFix/>
          </a:blip>
          <a:stretch>
            <a:fillRect/>
          </a:stretch>
        </p:blipFill>
        <p:spPr>
          <a:xfrm>
            <a:off x="4671475" y="1381627"/>
            <a:ext cx="3607824" cy="2705834"/>
          </a:xfrm>
          <a:prstGeom prst="rect">
            <a:avLst/>
          </a:prstGeom>
          <a:noFill/>
          <a:ln>
            <a:noFill/>
          </a:ln>
        </p:spPr>
      </p:pic>
      <p:sp>
        <p:nvSpPr>
          <p:cNvPr id="252" name="Google Shape;252;p38"/>
          <p:cNvSpPr txBox="1"/>
          <p:nvPr/>
        </p:nvSpPr>
        <p:spPr>
          <a:xfrm>
            <a:off x="311700" y="4507050"/>
            <a:ext cx="8154600" cy="572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fr" u="sng"/>
              <a:t>Remarque:</a:t>
            </a:r>
            <a:r>
              <a:rPr lang="fr"/>
              <a:t> On ne peut pas en dire grand chose, on </a:t>
            </a:r>
            <a:r>
              <a:rPr lang="fr"/>
              <a:t>s'attendait</a:t>
            </a:r>
            <a:r>
              <a:rPr lang="fr"/>
              <a:t> plutôt à un maximum à gauche et un minimum à droite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6" name="Shape 256"/>
        <p:cNvGrpSpPr/>
        <p:nvPr/>
      </p:nvGrpSpPr>
      <p:grpSpPr>
        <a:xfrm>
          <a:off x="0" y="0"/>
          <a:ext cx="0" cy="0"/>
          <a:chOff x="0" y="0"/>
          <a:chExt cx="0" cy="0"/>
        </a:xfrm>
      </p:grpSpPr>
      <p:sp>
        <p:nvSpPr>
          <p:cNvPr id="257" name="Google Shape;257;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Pénalité</a:t>
            </a:r>
            <a:r>
              <a:rPr lang="fr"/>
              <a:t>, PC (alpha: 0.8)</a:t>
            </a:r>
            <a:endParaRPr/>
          </a:p>
        </p:txBody>
      </p:sp>
      <p:sp>
        <p:nvSpPr>
          <p:cNvPr id="258" name="Google Shape;258;p39"/>
          <p:cNvSpPr txBox="1"/>
          <p:nvPr/>
        </p:nvSpPr>
        <p:spPr>
          <a:xfrm>
            <a:off x="236825" y="1902000"/>
            <a:ext cx="1961400" cy="27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50">
                <a:solidFill>
                  <a:schemeClr val="dk1"/>
                </a:solidFill>
              </a:rPr>
              <a:t>0 autorégulateur</a:t>
            </a:r>
            <a:endParaRPr sz="1150">
              <a:solidFill>
                <a:schemeClr val="dk1"/>
              </a:solidFill>
            </a:endParaRPr>
          </a:p>
          <a:p>
            <a:pPr indent="0" lvl="0" marL="0" rtl="0" algn="l">
              <a:spcBef>
                <a:spcPts val="0"/>
              </a:spcBef>
              <a:spcAft>
                <a:spcPts val="0"/>
              </a:spcAft>
              <a:buNone/>
            </a:pPr>
            <a:r>
              <a:rPr lang="fr" sz="1150">
                <a:solidFill>
                  <a:srgbClr val="4A86E8"/>
                </a:solidFill>
              </a:rPr>
              <a:t>112</a:t>
            </a:r>
            <a:r>
              <a:rPr lang="fr" sz="1150">
                <a:solidFill>
                  <a:schemeClr val="dk1"/>
                </a:solidFill>
              </a:rPr>
              <a:t> arcs</a:t>
            </a:r>
            <a:endParaRPr sz="1150">
              <a:solidFill>
                <a:schemeClr val="dk1"/>
              </a:solidFill>
            </a:endParaRPr>
          </a:p>
          <a:p>
            <a:pPr indent="0" lvl="0" marL="0" rtl="0" algn="l">
              <a:spcBef>
                <a:spcPts val="0"/>
              </a:spcBef>
              <a:spcAft>
                <a:spcPts val="0"/>
              </a:spcAft>
              <a:buNone/>
            </a:pPr>
            <a:r>
              <a:rPr lang="fr" sz="1150">
                <a:solidFill>
                  <a:schemeClr val="dk1"/>
                </a:solidFill>
              </a:rPr>
              <a:t>fold enrichment: </a:t>
            </a:r>
            <a:r>
              <a:rPr lang="fr" sz="1150">
                <a:solidFill>
                  <a:srgbClr val="FF0000"/>
                </a:solidFill>
              </a:rPr>
              <a:t>1.882</a:t>
            </a:r>
            <a:endParaRPr sz="1150">
              <a:solidFill>
                <a:srgbClr val="FF0000"/>
              </a:solidFill>
            </a:endParaRPr>
          </a:p>
          <a:p>
            <a:pPr indent="0" lvl="0" marL="0" rtl="0" algn="l">
              <a:spcBef>
                <a:spcPts val="0"/>
              </a:spcBef>
              <a:spcAft>
                <a:spcPts val="0"/>
              </a:spcAft>
              <a:buNone/>
            </a:pPr>
            <a:r>
              <a:rPr lang="fr" sz="1150">
                <a:solidFill>
                  <a:schemeClr val="dk1"/>
                </a:solidFill>
              </a:rPr>
              <a:t>penalty score: </a:t>
            </a:r>
            <a:r>
              <a:rPr lang="fr" sz="1150">
                <a:solidFill>
                  <a:srgbClr val="0000FF"/>
                </a:solidFill>
              </a:rPr>
              <a:t>29.13</a:t>
            </a:r>
            <a:endParaRPr sz="1150">
              <a:solidFill>
                <a:srgbClr val="0000FF"/>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t/>
            </a:r>
            <a:endParaRPr sz="1150">
              <a:solidFill>
                <a:schemeClr val="dk1"/>
              </a:solidFill>
            </a:endParaRPr>
          </a:p>
          <a:p>
            <a:pPr indent="0" lvl="0" marL="0" rtl="0" algn="l">
              <a:spcBef>
                <a:spcPts val="0"/>
              </a:spcBef>
              <a:spcAft>
                <a:spcPts val="0"/>
              </a:spcAft>
              <a:buNone/>
            </a:pPr>
            <a:r>
              <a:rPr lang="fr" sz="1150">
                <a:solidFill>
                  <a:schemeClr val="dk1"/>
                </a:solidFill>
              </a:rPr>
              <a:t>#arcs estimé = </a:t>
            </a:r>
            <a:r>
              <a:rPr lang="fr" sz="1150">
                <a:solidFill>
                  <a:srgbClr val="4A86E8"/>
                </a:solidFill>
              </a:rPr>
              <a:t>114.53</a:t>
            </a:r>
            <a:endParaRPr sz="1150">
              <a:solidFill>
                <a:srgbClr val="4A86E8"/>
              </a:solidFill>
            </a:endParaRPr>
          </a:p>
        </p:txBody>
      </p:sp>
      <p:pic>
        <p:nvPicPr>
          <p:cNvPr id="259" name="Google Shape;259;p39"/>
          <p:cNvPicPr preferRelativeResize="0"/>
          <p:nvPr/>
        </p:nvPicPr>
        <p:blipFill>
          <a:blip r:embed="rId3">
            <a:alphaModFix/>
          </a:blip>
          <a:stretch>
            <a:fillRect/>
          </a:stretch>
        </p:blipFill>
        <p:spPr>
          <a:xfrm>
            <a:off x="2350625" y="1170125"/>
            <a:ext cx="5094633" cy="3820975"/>
          </a:xfrm>
          <a:prstGeom prst="rect">
            <a:avLst/>
          </a:prstGeom>
          <a:noFill/>
          <a:ln>
            <a:noFill/>
          </a:ln>
        </p:spPr>
      </p:pic>
      <p:sp>
        <p:nvSpPr>
          <p:cNvPr id="260" name="Google Shape;260;p39"/>
          <p:cNvSpPr txBox="1"/>
          <p:nvPr/>
        </p:nvSpPr>
        <p:spPr>
          <a:xfrm>
            <a:off x="6860475" y="340425"/>
            <a:ext cx="2005500" cy="507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fr" sz="1100"/>
              <a:t>alpha est très élevé, peut-on se fier à ces résultats ?</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